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2"/>
  </p:notesMasterIdLst>
  <p:sldIdLst>
    <p:sldId id="262" r:id="rId2"/>
    <p:sldId id="263" r:id="rId3"/>
    <p:sldId id="261" r:id="rId4"/>
    <p:sldId id="264" r:id="rId5"/>
    <p:sldId id="265" r:id="rId6"/>
    <p:sldId id="266" r:id="rId7"/>
    <p:sldId id="268" r:id="rId8"/>
    <p:sldId id="267" r:id="rId9"/>
    <p:sldId id="269" r:id="rId10"/>
    <p:sldId id="270" r:id="rId11"/>
    <p:sldId id="272" r:id="rId12"/>
    <p:sldId id="273" r:id="rId13"/>
    <p:sldId id="274" r:id="rId14"/>
    <p:sldId id="275" r:id="rId15"/>
    <p:sldId id="276" r:id="rId16"/>
    <p:sldId id="277" r:id="rId17"/>
    <p:sldId id="278" r:id="rId18"/>
    <p:sldId id="279" r:id="rId19"/>
    <p:sldId id="280" r:id="rId20"/>
    <p:sldId id="283" r:id="rId21"/>
    <p:sldId id="282" r:id="rId22"/>
    <p:sldId id="286" r:id="rId23"/>
    <p:sldId id="285" r:id="rId24"/>
    <p:sldId id="288" r:id="rId25"/>
    <p:sldId id="293" r:id="rId26"/>
    <p:sldId id="289" r:id="rId27"/>
    <p:sldId id="291" r:id="rId28"/>
    <p:sldId id="292" r:id="rId29"/>
    <p:sldId id="295" r:id="rId30"/>
    <p:sldId id="297" r:id="rId3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3861" autoAdjust="0"/>
  </p:normalViewPr>
  <p:slideViewPr>
    <p:cSldViewPr snapToGrid="0">
      <p:cViewPr varScale="1">
        <p:scale>
          <a:sx n="80" d="100"/>
          <a:sy n="80" d="100"/>
        </p:scale>
        <p:origin x="1522"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28380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r>
              <a:rPr lang="en-US" dirty="0"/>
              <a:t>https://tradecraftgarden.org/index.html</a:t>
            </a:r>
          </a:p>
          <a:p>
            <a:r>
              <a:rPr lang="en-US" dirty="0"/>
              <a:t>https://github.com/k1ng0fn0th1ng/reflectra</a:t>
            </a:r>
          </a:p>
          <a:p>
            <a:r>
              <a:rPr lang="en-US" dirty="0"/>
              <a:t>https://github.com/k1ng0fn0th1ng/CrystalForge</a:t>
            </a:r>
          </a:p>
        </p:txBody>
      </p:sp>
    </p:spTree>
    <p:extLst>
      <p:ext uri="{BB962C8B-B14F-4D97-AF65-F5344CB8AC3E}">
        <p14:creationId xmlns:p14="http://schemas.microsoft.com/office/powerpoint/2010/main" val="3530776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pPr marL="158750" indent="0">
              <a:buNone/>
            </a:pPr>
            <a:r>
              <a:rPr lang="en-US" dirty="0"/>
              <a:t>Show profile.yaml</a:t>
            </a:r>
          </a:p>
          <a:p>
            <a:pPr marL="158750" indent="0">
              <a:buNone/>
            </a:pPr>
            <a:r>
              <a:rPr lang="en-US" dirty="0"/>
              <a:t>Show starting server</a:t>
            </a:r>
          </a:p>
          <a:p>
            <a:pPr marL="158750" indent="0">
              <a:buNone/>
            </a:pPr>
            <a:r>
              <a:rPr lang="en-US" dirty="0"/>
              <a:t>Show connecting to server from the client</a:t>
            </a:r>
          </a:p>
          <a:p>
            <a:pPr marL="158750" indent="0">
              <a:buNone/>
            </a:pPr>
            <a:r>
              <a:rPr lang="en-US" dirty="0"/>
              <a:t>Go over UI</a:t>
            </a:r>
          </a:p>
        </p:txBody>
      </p:sp>
    </p:spTree>
    <p:extLst>
      <p:ext uri="{BB962C8B-B14F-4D97-AF65-F5344CB8AC3E}">
        <p14:creationId xmlns:p14="http://schemas.microsoft.com/office/powerpoint/2010/main" val="264963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EC63-9072-CB60-7673-C8A956E69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B0ADC-2A6F-6C3C-C20B-F2EFDA9B4C7C}"/>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39D13279-11B1-4F49-1778-47CBB61CAC4A}"/>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649428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r>
              <a:rPr lang="en-US" dirty="0"/>
              <a:t>Note: Kharon was archived on 2026 05 17, the agent is kept in the class for demonstration purposes</a:t>
            </a:r>
          </a:p>
        </p:txBody>
      </p:sp>
    </p:spTree>
    <p:extLst>
      <p:ext uri="{BB962C8B-B14F-4D97-AF65-F5344CB8AC3E}">
        <p14:creationId xmlns:p14="http://schemas.microsoft.com/office/powerpoint/2010/main" val="1539021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AB715-68E7-B6D9-CEAF-115A26EDE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7CA6E-48C8-FC75-9E02-D6368F80C957}"/>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BF67D4FA-92E1-E083-0388-0FF83EA1926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31555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273C0-CB70-D3D1-C576-2DDC13D73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5C45D-6ACB-036A-4605-10E5305E30CE}"/>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70711BFF-764A-7685-F908-7E6CF1266B31}"/>
              </a:ext>
            </a:extLst>
          </p:cNvPr>
          <p:cNvSpPr>
            <a:spLocks noGrp="1"/>
          </p:cNvSpPr>
          <p:nvPr>
            <p:ph type="body" idx="1"/>
          </p:nvPr>
        </p:nvSpPr>
        <p:spPr/>
        <p:txBody>
          <a:bodyPr/>
          <a:lstStyle/>
          <a:p>
            <a:pPr marL="158750" indent="0">
              <a:buNone/>
            </a:pPr>
            <a:r>
              <a:rPr lang="en-US" dirty="0"/>
              <a:t>Show generating an agent</a:t>
            </a:r>
          </a:p>
          <a:p>
            <a:pPr marL="158750" indent="0">
              <a:buNone/>
            </a:pPr>
            <a:r>
              <a:rPr lang="en-US" dirty="0"/>
              <a:t>Show selecting Agent and creating a profile</a:t>
            </a:r>
          </a:p>
          <a:p>
            <a:pPr marL="158750" indent="0">
              <a:buNone/>
            </a:pPr>
            <a:r>
              <a:rPr lang="en-US" dirty="0"/>
              <a:t>Show the save and load profile buttons</a:t>
            </a:r>
          </a:p>
        </p:txBody>
      </p:sp>
    </p:spTree>
    <p:extLst>
      <p:ext uri="{BB962C8B-B14F-4D97-AF65-F5344CB8AC3E}">
        <p14:creationId xmlns:p14="http://schemas.microsoft.com/office/powerpoint/2010/main" val="2414067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F18F2-3163-2FB6-BC8B-E939EF22B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FA284-1797-F260-BE07-B729B9A5ABEE}"/>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DAD4884B-3088-83B3-1D06-CF140ACBC257}"/>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4286906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3182-D9FF-B85F-AC49-254AC5B52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AEFDE-77BD-6BDD-0A8C-9A92B2FCC4D1}"/>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087FA8DB-1F36-E821-D83A-4835A29C1BDB}"/>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261055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C391A-2505-6E75-82F5-33FB030B3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3D5FA-234D-8EC8-66F3-03C0934CCE7C}"/>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CF91D4B0-E6DC-B785-289B-83920B5D081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2756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51D13-D0E2-F8BC-8F78-CD9E8CBBE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5ACDB-DEC3-C22F-BEDB-344657CD3E4D}"/>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7F2F5120-A89B-3704-B0EA-6B0BF62D165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229199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11EFE-A1E3-42DE-6D2E-3562AAA70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04D64-321B-7A70-1A07-00393F43F722}"/>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2C3F4E09-96EF-85C3-D99E-8F8CE49A802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51608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113E0-9FD5-B008-CDC8-7C3FB4F94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62E11-223D-77B7-B7F2-23B9C0F19343}"/>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D2D3FDDB-6D28-9C0F-921E-8D9C631B2A9C}"/>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0363589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4BC27-00EE-7AC6-DB3B-902AFDA59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2135E-ED33-229F-F7D6-510FB67C055E}"/>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1850EFBA-0BCF-51E1-0DCC-5994B2F23DA4}"/>
              </a:ext>
            </a:extLst>
          </p:cNvPr>
          <p:cNvSpPr>
            <a:spLocks noGrp="1"/>
          </p:cNvSpPr>
          <p:nvPr>
            <p:ph type="body" idx="1"/>
          </p:nvPr>
        </p:nvSpPr>
        <p:spPr/>
        <p:txBody>
          <a:bodyPr/>
          <a:lstStyle/>
          <a:p>
            <a:pPr marL="158750" indent="0">
              <a:buNone/>
            </a:pPr>
            <a:r>
              <a:rPr lang="en-US" sz="1100" b="0" i="0" u="none" strike="noStrike" cap="none" dirty="0">
                <a:solidFill>
                  <a:srgbClr val="000000"/>
                </a:solidFill>
                <a:effectLst/>
                <a:latin typeface="Arial"/>
                <a:ea typeface="Arial"/>
                <a:cs typeface="Arial"/>
                <a:sym typeface="Arial"/>
              </a:rPr>
              <a:t>NTUSER.MAN is a </a:t>
            </a:r>
            <a:r>
              <a:rPr lang="en-US" sz="1100" b="1" i="0" u="none" strike="noStrike" cap="none" dirty="0">
                <a:solidFill>
                  <a:srgbClr val="000000"/>
                </a:solidFill>
                <a:effectLst/>
                <a:latin typeface="Arial"/>
                <a:ea typeface="Arial"/>
                <a:cs typeface="Arial"/>
                <a:sym typeface="Arial"/>
              </a:rPr>
              <a:t>mandatory profile hive,</a:t>
            </a:r>
            <a:r>
              <a:rPr lang="en-US" sz="1100" b="0" i="0" u="none" strike="noStrike" cap="none" dirty="0">
                <a:solidFill>
                  <a:srgbClr val="000000"/>
                </a:solidFill>
                <a:effectLst/>
                <a:latin typeface="Arial"/>
                <a:ea typeface="Arial"/>
                <a:cs typeface="Arial"/>
                <a:sym typeface="Arial"/>
              </a:rPr>
              <a:t> when present in a user's profile directory, Windows loads it in place of NTUSER.DAT at logon, executing any registry run keys embedded within it. Because the hive is treated as read-only and changes are discarded on logoff, the payload re-executes on every login while leaving no persistent modifications to the live registry.</a:t>
            </a:r>
            <a:endParaRPr lang="en-US" dirty="0"/>
          </a:p>
          <a:p>
            <a:endParaRPr lang="en-US" dirty="0"/>
          </a:p>
          <a:p>
            <a:pPr marL="158750" indent="0">
              <a:buNone/>
            </a:pPr>
            <a:r>
              <a:rPr lang="en-US" sz="1100" b="0" i="0" u="none" strike="noStrike" cap="none" dirty="0">
                <a:solidFill>
                  <a:srgbClr val="000000"/>
                </a:solidFill>
                <a:effectLst/>
                <a:latin typeface="Arial"/>
                <a:ea typeface="Arial"/>
                <a:cs typeface="Arial"/>
                <a:sym typeface="Arial"/>
              </a:rPr>
              <a:t>https://swisskyrepo.github.io/InternalAllTheThings/redteam/persistence/windows-persistence/#registry-hkcu </a:t>
            </a:r>
          </a:p>
          <a:p>
            <a:pPr marL="158750" indent="0">
              <a:buNone/>
            </a:pPr>
            <a:r>
              <a:rPr lang="en-US" sz="1100" b="0" i="0" u="none" strike="noStrike" cap="none" dirty="0">
                <a:solidFill>
                  <a:srgbClr val="000000"/>
                </a:solidFill>
                <a:effectLst/>
                <a:latin typeface="Arial"/>
                <a:ea typeface="Arial"/>
                <a:cs typeface="Arial"/>
                <a:sym typeface="Arial"/>
              </a:rPr>
              <a:t>https://deceptiq.com/blog/ntuser-man-registry-persistence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https://www.elastic.co/guide/en/security/8.19/potential-persistence-via-mandatory-user-profile.html</a:t>
            </a:r>
          </a:p>
          <a:p>
            <a:pPr marL="158750" indent="0">
              <a:buNone/>
            </a:pPr>
            <a:endParaRPr lang="en-US" sz="1100" b="0" i="0" u="none" strike="noStrike" cap="none" dirty="0">
              <a:solidFill>
                <a:srgbClr val="000000"/>
              </a:solidFill>
              <a:effectLst/>
              <a:latin typeface="Arial"/>
              <a:cs typeface="Arial"/>
              <a:sym typeface="Arial"/>
            </a:endParaRPr>
          </a:p>
          <a:p>
            <a:pPr marL="158750" indent="0">
              <a:buNone/>
            </a:pPr>
            <a:br>
              <a:rPr lang="en-US" sz="1100" b="0" i="0" u="none" strike="noStrike" cap="none" dirty="0">
                <a:solidFill>
                  <a:srgbClr val="000000"/>
                </a:solidFill>
                <a:effectLst/>
                <a:latin typeface="Arial"/>
                <a:cs typeface="Arial"/>
                <a:sym typeface="Arial"/>
              </a:rPr>
            </a:br>
            <a:r>
              <a:rPr lang="en-US" sz="1100" b="0" i="0" u="none" strike="noStrike" cap="none" dirty="0">
                <a:solidFill>
                  <a:srgbClr val="000000"/>
                </a:solidFill>
                <a:effectLst/>
                <a:latin typeface="Arial"/>
                <a:ea typeface="Arial"/>
                <a:cs typeface="Arial"/>
                <a:sym typeface="Arial"/>
              </a:rPr>
              <a:t>Phantom Persistence embeds shellcode into a compiled payload that abuses a less-monitored Windows execution mechanism, triggering a callback on logon without relying on common artifacts like scheduled tasks or registry run keys. Because it operates outside the typical persistence paths that defenders monitor, it has a lower detection profile while still surviving reboots and logoffs.</a:t>
            </a:r>
            <a:br>
              <a:rPr lang="en-US" sz="1100" b="0" i="0" u="none" strike="noStrike" cap="none" dirty="0">
                <a:solidFill>
                  <a:srgbClr val="000000"/>
                </a:solidFill>
                <a:effectLst/>
                <a:latin typeface="Arial"/>
                <a:cs typeface="Arial"/>
                <a:sym typeface="Arial"/>
              </a:rPr>
            </a:br>
            <a:endParaRPr lang="en-US" sz="1100" b="0" i="0" u="none" strike="noStrike" cap="none" dirty="0">
              <a:solidFill>
                <a:srgbClr val="000000"/>
              </a:solidFill>
              <a:effectLst/>
              <a:latin typeface="Arial"/>
              <a:cs typeface="Arial"/>
              <a:sym typeface="Arial"/>
            </a:endParaRPr>
          </a:p>
          <a:p>
            <a:pPr marL="158750" indent="0">
              <a:buNone/>
            </a:pPr>
            <a:r>
              <a:rPr lang="en-US" dirty="0"/>
              <a:t>https://blog.phantomsec.tools/phantom-persistence</a:t>
            </a:r>
            <a:br>
              <a:rPr lang="en-US" dirty="0"/>
            </a:br>
            <a:r>
              <a:rPr lang="en-US" dirty="0"/>
              <a:t>https://github.com/Teach2Breach/phantom_persist_rs</a:t>
            </a:r>
          </a:p>
        </p:txBody>
      </p:sp>
    </p:spTree>
    <p:extLst>
      <p:ext uri="{BB962C8B-B14F-4D97-AF65-F5344CB8AC3E}">
        <p14:creationId xmlns:p14="http://schemas.microsoft.com/office/powerpoint/2010/main" val="16645496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0B462-2BAE-B609-B857-4E8F37539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5686EA-B5E9-96EC-03CA-9B3EF50A9EDD}"/>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B1BB61E4-0D0E-87A3-516C-74B3465A0A5D}"/>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297801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08859-9DC2-6DC9-4D16-F8FF15F18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0473B-F6CF-CAFD-0436-A9188E398814}"/>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982DC64D-551C-6BEB-01F0-D4BAAB1BBBFD}"/>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9652767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32C07-A2C5-59FB-0B54-E8916305D1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150C21-0DAC-E027-41F2-EDF31A9F2B55}"/>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E53D7E46-4E90-DA3E-1C39-C4D6F993BA8C}"/>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2052496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9C35A-EA61-DEAF-EE6C-DD9E7278A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CD922-8A3D-A3D7-F557-DC2CA0BAA5A0}"/>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047715F3-E229-FB1F-8ECA-53176E2ABD86}"/>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984137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41B9-3AB8-DB34-1693-94DF744E7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66BF79-3EC8-9D32-5663-01548D652D8B}"/>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F15246CC-241E-9406-4084-61979817586F}"/>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340870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77DC1-E74B-88D2-062D-57FBEA92C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6BDBB-2919-226C-EC04-1166B9C7C0D6}"/>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B5A53725-4891-3F9E-25AB-A1B21D0D7151}"/>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6931289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75829-4C6C-E09E-6490-F08E5149DE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DD6A3-A18E-4452-B75B-8D218E2A3E03}"/>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7695C609-9980-ED83-4EF5-F5ADAB4E6BA0}"/>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6819104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C0CC0-CC62-239F-772D-64CBB8438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3560B4-9DB6-D2F6-A3C9-B05E625852DA}"/>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FD836AB0-4E34-1D04-7C50-6BEA2C279DB2}"/>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640918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A4310-9A67-2E8F-C689-99C887360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EAFDD-5587-9A84-FD39-B14173873B5B}"/>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90CC0247-10CC-34A9-2B31-D541DB3C985D}"/>
              </a:ext>
            </a:extLst>
          </p:cNvPr>
          <p:cNvSpPr>
            <a:spLocks noGrp="1"/>
          </p:cNvSpPr>
          <p:nvPr>
            <p:ph type="body" idx="1"/>
          </p:nvPr>
        </p:nvSpPr>
        <p:spPr/>
        <p:txBody>
          <a:bodyPr/>
          <a:lstStyle/>
          <a:p>
            <a:r>
              <a:rPr lang="en-US" sz="1100" b="1" i="0" u="none" strike="noStrike" cap="none" dirty="0">
                <a:solidFill>
                  <a:srgbClr val="000000"/>
                </a:solidFill>
                <a:effectLst/>
                <a:latin typeface="Arial"/>
                <a:ea typeface="Arial"/>
                <a:cs typeface="Arial"/>
                <a:sym typeface="Arial"/>
              </a:rPr>
              <a:t>Same LUID (your own session)</a:t>
            </a:r>
            <a:r>
              <a:rPr lang="en-US" sz="1100" b="0" i="0" u="none" strike="noStrike" cap="none" dirty="0">
                <a:solidFill>
                  <a:srgbClr val="000000"/>
                </a:solidFill>
                <a:effectLst/>
                <a:latin typeface="Arial"/>
                <a:ea typeface="Arial"/>
                <a:cs typeface="Arial"/>
                <a:sym typeface="Arial"/>
              </a:rPr>
              <a:t>  no elevated privileges required if the ticket belongs to your own account</a:t>
            </a:r>
          </a:p>
          <a:p>
            <a:r>
              <a:rPr lang="en-US" sz="1100" b="1" i="0" u="none" strike="noStrike" cap="none" dirty="0">
                <a:solidFill>
                  <a:srgbClr val="000000"/>
                </a:solidFill>
                <a:effectLst/>
                <a:latin typeface="Arial"/>
                <a:ea typeface="Arial"/>
                <a:cs typeface="Arial"/>
                <a:sym typeface="Arial"/>
              </a:rPr>
              <a:t>Injecting into another user's LUID</a:t>
            </a:r>
            <a:r>
              <a:rPr lang="en-US" sz="1100" b="0" i="0" u="none" strike="noStrike" cap="none" dirty="0">
                <a:solidFill>
                  <a:srgbClr val="000000"/>
                </a:solidFill>
                <a:effectLst/>
                <a:latin typeface="Arial"/>
                <a:ea typeface="Arial"/>
                <a:cs typeface="Arial"/>
                <a:sym typeface="Arial"/>
              </a:rPr>
              <a:t> requires SYSTEM or SeDebugPrivilege to open a handle to another process's logon session</a:t>
            </a:r>
          </a:p>
          <a:p>
            <a:r>
              <a:rPr lang="en-US" sz="1100" b="1" i="0" u="none" strike="noStrike" cap="none" dirty="0">
                <a:solidFill>
                  <a:srgbClr val="000000"/>
                </a:solidFill>
                <a:effectLst/>
                <a:latin typeface="Arial"/>
                <a:ea typeface="Arial"/>
                <a:cs typeface="Arial"/>
                <a:sym typeface="Arial"/>
              </a:rPr>
              <a:t>Creating a sacrificial logon session (NetOnly/runas /netonly style)</a:t>
            </a:r>
            <a:r>
              <a:rPr lang="en-US" sz="1100" b="0" i="0" u="none" strike="noStrike" cap="none" dirty="0">
                <a:solidFill>
                  <a:srgbClr val="000000"/>
                </a:solidFill>
                <a:effectLst/>
                <a:latin typeface="Arial"/>
                <a:ea typeface="Arial"/>
                <a:cs typeface="Arial"/>
                <a:sym typeface="Arial"/>
              </a:rPr>
              <a:t> requires local admin in most tooling implementations (e.g., Rubeus), but some C2 frameworks can do this without admin by managing the process interaction through named pipes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Injecting a ticket into an active SYSTEM session risks overwriting the machine account's existing Kerberos ticket unlike user accounts, SYSTEM will not automatically obtain a new ticket, meaning the host loses its ability to authenticate to domain resources until it is rebooted</a:t>
            </a:r>
          </a:p>
          <a:p>
            <a:pPr marL="158750" indent="0">
              <a:buNone/>
            </a:pP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marL="158750" indent="0">
              <a:buNone/>
            </a:pPr>
            <a:endParaRPr lang="en-US" dirty="0"/>
          </a:p>
        </p:txBody>
      </p:sp>
    </p:spTree>
    <p:extLst>
      <p:ext uri="{BB962C8B-B14F-4D97-AF65-F5344CB8AC3E}">
        <p14:creationId xmlns:p14="http://schemas.microsoft.com/office/powerpoint/2010/main" val="3048299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A9D10-63A5-9D2E-46D6-55C4B008E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4A619-8F78-F975-D824-149123AD15BB}"/>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EA74F76B-5709-69A2-E340-166922765931}"/>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439434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19DF6-C688-FEBC-45DC-AB20922B8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B3476-4634-9FA4-A7F0-2A9F294966B2}"/>
              </a:ext>
            </a:extLst>
          </p:cNvPr>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a:extLst>
              <a:ext uri="{FF2B5EF4-FFF2-40B4-BE49-F238E27FC236}">
                <a16:creationId xmlns:a16="http://schemas.microsoft.com/office/drawing/2014/main" id="{3E581F9B-30E4-ECD2-5FAA-7933059833E5}"/>
              </a:ext>
            </a:extLst>
          </p:cNvPr>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589245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5" name="Google Shape;2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223775" y="13535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4"/>
          <p:cNvSpPr txBox="1">
            <a:spLocks noGrp="1"/>
          </p:cNvSpPr>
          <p:nvPr>
            <p:ph type="body" idx="1"/>
          </p:nvPr>
        </p:nvSpPr>
        <p:spPr>
          <a:xfrm>
            <a:off x="223775" y="1926250"/>
            <a:ext cx="8520600" cy="18681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223775" y="13535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2" name="Google Shape;3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223775" y="13535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dk1"/>
        </a:solidFill>
        <a:effectLst/>
      </p:bgPr>
    </p:bg>
    <p:spTree>
      <p:nvGrpSpPr>
        <p:cNvPr id="1" name="Shape 5"/>
        <p:cNvGrpSpPr/>
        <p:nvPr/>
      </p:nvGrpSpPr>
      <p:grpSpPr>
        <a:xfrm>
          <a:off x="0" y="0"/>
          <a:ext cx="0" cy="0"/>
          <a:chOff x="0" y="0"/>
          <a:chExt cx="0" cy="0"/>
        </a:xfrm>
      </p:grpSpPr>
      <p:sp>
        <p:nvSpPr>
          <p:cNvPr id="6" name="Google Shape;6;p1"/>
          <p:cNvSpPr/>
          <p:nvPr/>
        </p:nvSpPr>
        <p:spPr>
          <a:xfrm rot="10800000">
            <a:off x="1573800" y="-3050"/>
            <a:ext cx="633000" cy="365100"/>
          </a:xfrm>
          <a:prstGeom prst="rtTriangle">
            <a:avLst/>
          </a:prstGeom>
          <a:solidFill>
            <a:srgbClr val="C9A83C"/>
          </a:solidFill>
          <a:ln w="9525" cap="flat" cmpd="sng">
            <a:solidFill>
              <a:srgbClr val="C9A83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7" name="Google Shape;7;p1"/>
          <p:cNvSpPr/>
          <p:nvPr/>
        </p:nvSpPr>
        <p:spPr>
          <a:xfrm>
            <a:off x="2206800" y="115750"/>
            <a:ext cx="6937200" cy="246300"/>
          </a:xfrm>
          <a:prstGeom prst="rect">
            <a:avLst/>
          </a:prstGeom>
          <a:solidFill>
            <a:srgbClr val="C9A83C"/>
          </a:solidFill>
          <a:ln w="9525" cap="flat" cmpd="sng">
            <a:solidFill>
              <a:srgbClr val="C9A83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8" name="Google Shape;8;p1"/>
          <p:cNvSpPr txBox="1">
            <a:spLocks noGrp="1"/>
          </p:cNvSpPr>
          <p:nvPr>
            <p:ph type="title"/>
          </p:nvPr>
        </p:nvSpPr>
        <p:spPr>
          <a:xfrm>
            <a:off x="223775" y="1353550"/>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None/>
              <a:defRPr sz="2800">
                <a:solidFill>
                  <a:schemeClr val="lt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9" name="Google Shape;9;p1"/>
          <p:cNvSpPr txBox="1">
            <a:spLocks noGrp="1"/>
          </p:cNvSpPr>
          <p:nvPr>
            <p:ph type="body" idx="1"/>
          </p:nvPr>
        </p:nvSpPr>
        <p:spPr>
          <a:xfrm>
            <a:off x="223775" y="1926250"/>
            <a:ext cx="8520600" cy="18681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1"/>
              </a:buClr>
              <a:buSzPts val="1800"/>
              <a:buChar char="●"/>
              <a:defRPr sz="1800">
                <a:solidFill>
                  <a:schemeClr val="lt1"/>
                </a:solidFill>
              </a:defRPr>
            </a:lvl1pPr>
            <a:lvl2pPr marL="914400" lvl="1" indent="-317500">
              <a:lnSpc>
                <a:spcPct val="115000"/>
              </a:lnSpc>
              <a:spcBef>
                <a:spcPts val="0"/>
              </a:spcBef>
              <a:spcAft>
                <a:spcPts val="0"/>
              </a:spcAft>
              <a:buClr>
                <a:schemeClr val="lt1"/>
              </a:buClr>
              <a:buSzPts val="1400"/>
              <a:buChar char="○"/>
              <a:defRPr>
                <a:solidFill>
                  <a:schemeClr val="lt1"/>
                </a:solidFill>
              </a:defRPr>
            </a:lvl2pPr>
            <a:lvl3pPr marL="1371600" lvl="2" indent="-317500">
              <a:lnSpc>
                <a:spcPct val="115000"/>
              </a:lnSpc>
              <a:spcBef>
                <a:spcPts val="0"/>
              </a:spcBef>
              <a:spcAft>
                <a:spcPts val="0"/>
              </a:spcAft>
              <a:buClr>
                <a:schemeClr val="lt1"/>
              </a:buClr>
              <a:buSzPts val="1400"/>
              <a:buChar char="■"/>
              <a:defRPr>
                <a:solidFill>
                  <a:schemeClr val="lt1"/>
                </a:solidFill>
              </a:defRPr>
            </a:lvl3pPr>
            <a:lvl4pPr marL="1828800" lvl="3" indent="-317500">
              <a:lnSpc>
                <a:spcPct val="115000"/>
              </a:lnSpc>
              <a:spcBef>
                <a:spcPts val="0"/>
              </a:spcBef>
              <a:spcAft>
                <a:spcPts val="0"/>
              </a:spcAft>
              <a:buClr>
                <a:schemeClr val="lt1"/>
              </a:buClr>
              <a:buSzPts val="1400"/>
              <a:buChar char="●"/>
              <a:defRPr>
                <a:solidFill>
                  <a:schemeClr val="lt1"/>
                </a:solidFill>
              </a:defRPr>
            </a:lvl4pPr>
            <a:lvl5pPr marL="2286000" lvl="4" indent="-317500">
              <a:lnSpc>
                <a:spcPct val="115000"/>
              </a:lnSpc>
              <a:spcBef>
                <a:spcPts val="0"/>
              </a:spcBef>
              <a:spcAft>
                <a:spcPts val="0"/>
              </a:spcAft>
              <a:buClr>
                <a:schemeClr val="lt1"/>
              </a:buClr>
              <a:buSzPts val="1400"/>
              <a:buChar char="○"/>
              <a:defRPr>
                <a:solidFill>
                  <a:schemeClr val="lt1"/>
                </a:solidFill>
              </a:defRPr>
            </a:lvl5pPr>
            <a:lvl6pPr marL="2743200" lvl="5" indent="-317500">
              <a:lnSpc>
                <a:spcPct val="115000"/>
              </a:lnSpc>
              <a:spcBef>
                <a:spcPts val="0"/>
              </a:spcBef>
              <a:spcAft>
                <a:spcPts val="0"/>
              </a:spcAft>
              <a:buClr>
                <a:schemeClr val="lt1"/>
              </a:buClr>
              <a:buSzPts val="1400"/>
              <a:buChar char="■"/>
              <a:defRPr>
                <a:solidFill>
                  <a:schemeClr val="lt1"/>
                </a:solidFill>
              </a:defRPr>
            </a:lvl6pPr>
            <a:lvl7pPr marL="3200400" lvl="6" indent="-317500">
              <a:lnSpc>
                <a:spcPct val="115000"/>
              </a:lnSpc>
              <a:spcBef>
                <a:spcPts val="0"/>
              </a:spcBef>
              <a:spcAft>
                <a:spcPts val="0"/>
              </a:spcAft>
              <a:buClr>
                <a:schemeClr val="lt1"/>
              </a:buClr>
              <a:buSzPts val="1400"/>
              <a:buChar char="●"/>
              <a:defRPr>
                <a:solidFill>
                  <a:schemeClr val="lt1"/>
                </a:solidFill>
              </a:defRPr>
            </a:lvl7pPr>
            <a:lvl8pPr marL="3657600" lvl="7" indent="-317500">
              <a:lnSpc>
                <a:spcPct val="115000"/>
              </a:lnSpc>
              <a:spcBef>
                <a:spcPts val="0"/>
              </a:spcBef>
              <a:spcAft>
                <a:spcPts val="0"/>
              </a:spcAft>
              <a:buClr>
                <a:schemeClr val="lt1"/>
              </a:buClr>
              <a:buSzPts val="1400"/>
              <a:buChar char="○"/>
              <a:defRPr>
                <a:solidFill>
                  <a:schemeClr val="lt1"/>
                </a:solidFill>
              </a:defRPr>
            </a:lvl8pPr>
            <a:lvl9pPr marL="4114800" lvl="8" indent="-317500">
              <a:lnSpc>
                <a:spcPct val="115000"/>
              </a:lnSpc>
              <a:spcBef>
                <a:spcPts val="0"/>
              </a:spcBef>
              <a:spcAft>
                <a:spcPts val="0"/>
              </a:spcAft>
              <a:buClr>
                <a:schemeClr val="lt1"/>
              </a:buClr>
              <a:buSzPts val="1400"/>
              <a:buChar char="■"/>
              <a:defRPr>
                <a:solidFill>
                  <a:schemeClr val="lt1"/>
                </a:solidFill>
              </a:defRPr>
            </a:lvl9pPr>
          </a:lstStyle>
          <a:p>
            <a:endParaRPr/>
          </a:p>
        </p:txBody>
      </p:sp>
      <p:sp>
        <p:nvSpPr>
          <p:cNvPr id="10" name="Google Shape;10;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en"/>
              <a:t>‹#›</a:t>
            </a:fld>
            <a:endParaRPr dirty="0"/>
          </a:p>
        </p:txBody>
      </p:sp>
      <p:pic>
        <p:nvPicPr>
          <p:cNvPr id="11" name="Google Shape;11;p1" title="2000x2000px Logo Transparent Background PNG.png"/>
          <p:cNvPicPr preferRelativeResize="0"/>
          <p:nvPr/>
        </p:nvPicPr>
        <p:blipFill>
          <a:blip r:embed="rId12">
            <a:alphaModFix/>
          </a:blip>
          <a:stretch>
            <a:fillRect/>
          </a:stretch>
        </p:blipFill>
        <p:spPr>
          <a:xfrm>
            <a:off x="0" y="-240800"/>
            <a:ext cx="1594350" cy="1594350"/>
          </a:xfrm>
          <a:prstGeom prst="rect">
            <a:avLst/>
          </a:prstGeom>
          <a:noFill/>
          <a:ln>
            <a:noFill/>
          </a:ln>
        </p:spPr>
      </p:pic>
      <p:sp>
        <p:nvSpPr>
          <p:cNvPr id="12" name="Google Shape;12;p1"/>
          <p:cNvSpPr txBox="1"/>
          <p:nvPr/>
        </p:nvSpPr>
        <p:spPr>
          <a:xfrm>
            <a:off x="7797325" y="4761175"/>
            <a:ext cx="1106400" cy="1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265DA6"/>
                </a:solidFill>
              </a:rPr>
              <a:t>Valkyriesecurity.us</a:t>
            </a:r>
            <a:endParaRPr sz="700" dirty="0">
              <a:solidFill>
                <a:srgbClr val="265DA6"/>
              </a:solidFill>
            </a:endParaRPr>
          </a:p>
        </p:txBody>
      </p:sp>
      <p:sp>
        <p:nvSpPr>
          <p:cNvPr id="13" name="Google Shape;13;p1"/>
          <p:cNvSpPr/>
          <p:nvPr/>
        </p:nvSpPr>
        <p:spPr>
          <a:xfrm>
            <a:off x="2206800" y="0"/>
            <a:ext cx="6937200" cy="246300"/>
          </a:xfrm>
          <a:prstGeom prst="rect">
            <a:avLst/>
          </a:prstGeom>
          <a:solidFill>
            <a:srgbClr val="265DA6"/>
          </a:solidFill>
          <a:ln w="9525" cap="flat" cmpd="sng">
            <a:solidFill>
              <a:srgbClr val="265D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4" name="Google Shape;14;p1"/>
          <p:cNvSpPr/>
          <p:nvPr/>
        </p:nvSpPr>
        <p:spPr>
          <a:xfrm rot="10800000">
            <a:off x="1716000" y="0"/>
            <a:ext cx="490800" cy="246300"/>
          </a:xfrm>
          <a:prstGeom prst="rtTriangle">
            <a:avLst/>
          </a:prstGeom>
          <a:solidFill>
            <a:srgbClr val="265DA6"/>
          </a:solidFill>
          <a:ln w="9525" cap="flat" cmpd="sng">
            <a:solidFill>
              <a:srgbClr val="265D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 name="Google Shape;15;p1"/>
          <p:cNvSpPr/>
          <p:nvPr/>
        </p:nvSpPr>
        <p:spPr>
          <a:xfrm>
            <a:off x="6937200" y="4778400"/>
            <a:ext cx="633000" cy="365100"/>
          </a:xfrm>
          <a:prstGeom prst="rtTriangle">
            <a:avLst/>
          </a:prstGeom>
          <a:solidFill>
            <a:srgbClr val="C9A83C"/>
          </a:solidFill>
          <a:ln w="9525" cap="flat" cmpd="sng">
            <a:solidFill>
              <a:srgbClr val="C9A83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6" name="Google Shape;16;p1"/>
          <p:cNvSpPr/>
          <p:nvPr/>
        </p:nvSpPr>
        <p:spPr>
          <a:xfrm rot="10800000">
            <a:off x="0" y="4778400"/>
            <a:ext cx="6937200" cy="246300"/>
          </a:xfrm>
          <a:prstGeom prst="rect">
            <a:avLst/>
          </a:prstGeom>
          <a:solidFill>
            <a:srgbClr val="C9A83C"/>
          </a:solidFill>
          <a:ln w="9525" cap="flat" cmpd="sng">
            <a:solidFill>
              <a:srgbClr val="C9A83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7" name="Google Shape;17;p1"/>
          <p:cNvSpPr/>
          <p:nvPr/>
        </p:nvSpPr>
        <p:spPr>
          <a:xfrm rot="10800000">
            <a:off x="0" y="4894150"/>
            <a:ext cx="6937200" cy="246300"/>
          </a:xfrm>
          <a:prstGeom prst="rect">
            <a:avLst/>
          </a:prstGeom>
          <a:solidFill>
            <a:srgbClr val="265DA6"/>
          </a:solidFill>
          <a:ln w="9525" cap="flat" cmpd="sng">
            <a:solidFill>
              <a:srgbClr val="265D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8" name="Google Shape;18;p1"/>
          <p:cNvSpPr/>
          <p:nvPr/>
        </p:nvSpPr>
        <p:spPr>
          <a:xfrm>
            <a:off x="6937200" y="4894150"/>
            <a:ext cx="490800" cy="246300"/>
          </a:xfrm>
          <a:prstGeom prst="rtTriangle">
            <a:avLst/>
          </a:prstGeom>
          <a:solidFill>
            <a:srgbClr val="265DA6"/>
          </a:solidFill>
          <a:ln w="9525" cap="flat" cmpd="sng">
            <a:solidFill>
              <a:srgbClr val="265D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x.com/hacker_ralf"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x.com/k1ng0fn0th"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github.com/k1ng0fn0th1ng/reflectra" TargetMode="External"/><Relationship Id="rId4" Type="http://schemas.openxmlformats.org/officeDocument/2006/relationships/hyperlink" Target="https://github.com/k1ng0fn0th1ng/CrystalForge"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entropy-z/Kharon"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raskolnikov90/Beatrice.py"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github.com/vari-sh/RedTeamGrimoire/tree/main" TargetMode="External"/><Relationship Id="rId4" Type="http://schemas.openxmlformats.org/officeDocument/2006/relationships/hyperlink" Target="https://github.com/Schich/Lucky-Spark"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thehacker.recipes/ad/movement/kerbero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thehacker.recipes/ad/movement/kerberos/"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thehacker.recipes/ad/movement/kerberos/"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3CEB6-39BF-BCDC-CD64-723CBCA72D9A}"/>
              </a:ext>
            </a:extLst>
          </p:cNvPr>
          <p:cNvSpPr>
            <a:spLocks noGrp="1"/>
          </p:cNvSpPr>
          <p:nvPr>
            <p:ph type="title"/>
          </p:nvPr>
        </p:nvSpPr>
        <p:spPr>
          <a:xfrm>
            <a:off x="306786" y="2150850"/>
            <a:ext cx="8520600" cy="841800"/>
          </a:xfrm>
        </p:spPr>
        <p:txBody>
          <a:bodyPr/>
          <a:lstStyle/>
          <a:p>
            <a:r>
              <a:rPr lang="en-US" dirty="0"/>
              <a:t>Adaptix C2 Operations</a:t>
            </a:r>
          </a:p>
        </p:txBody>
      </p:sp>
      <p:sp>
        <p:nvSpPr>
          <p:cNvPr id="3" name="Title 1">
            <a:extLst>
              <a:ext uri="{FF2B5EF4-FFF2-40B4-BE49-F238E27FC236}">
                <a16:creationId xmlns:a16="http://schemas.microsoft.com/office/drawing/2014/main" id="{34DE27EF-024B-5C68-F4C8-67216DF8BF18}"/>
              </a:ext>
            </a:extLst>
          </p:cNvPr>
          <p:cNvSpPr txBox="1">
            <a:spLocks/>
          </p:cNvSpPr>
          <p:nvPr/>
        </p:nvSpPr>
        <p:spPr>
          <a:xfrm>
            <a:off x="306786" y="2775198"/>
            <a:ext cx="8520600" cy="414569"/>
          </a:xfrm>
          <a:prstGeom prst="rect">
            <a:avLst/>
          </a:prstGeom>
          <a:noFill/>
          <a:ln>
            <a:noFill/>
          </a:ln>
        </p:spPr>
        <p:txBody>
          <a:bodyPr spcFirstLastPara="1" wrap="square" lIns="91425" tIns="91425" rIns="91425" bIns="91425" anchor="ctr" anchorCtr="0">
            <a:normAutofit fontScale="925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US" sz="2000" dirty="0"/>
              <a:t>Cyber Shield 2026 Red Team</a:t>
            </a:r>
          </a:p>
        </p:txBody>
      </p:sp>
    </p:spTree>
    <p:extLst>
      <p:ext uri="{BB962C8B-B14F-4D97-AF65-F5344CB8AC3E}">
        <p14:creationId xmlns:p14="http://schemas.microsoft.com/office/powerpoint/2010/main" val="384044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83238-1087-4FC4-D104-8A573F8D7E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CA5F83-9431-E133-B927-E7311C1654EE}"/>
              </a:ext>
            </a:extLst>
          </p:cNvPr>
          <p:cNvSpPr>
            <a:spLocks noGrp="1"/>
          </p:cNvSpPr>
          <p:nvPr>
            <p:ph type="title"/>
          </p:nvPr>
        </p:nvSpPr>
        <p:spPr>
          <a:xfrm>
            <a:off x="0" y="434367"/>
            <a:ext cx="9144000" cy="572700"/>
          </a:xfrm>
        </p:spPr>
        <p:txBody>
          <a:bodyPr>
            <a:noAutofit/>
          </a:bodyPr>
          <a:lstStyle/>
          <a:p>
            <a:pPr algn="ctr"/>
            <a:r>
              <a:rPr lang="en-US" dirty="0"/>
              <a:t>Introductions</a:t>
            </a:r>
          </a:p>
        </p:txBody>
      </p:sp>
      <p:sp>
        <p:nvSpPr>
          <p:cNvPr id="4" name="Text Placeholder 3">
            <a:extLst>
              <a:ext uri="{FF2B5EF4-FFF2-40B4-BE49-F238E27FC236}">
                <a16:creationId xmlns:a16="http://schemas.microsoft.com/office/drawing/2014/main" id="{30132A79-3AF4-7793-8A6D-AF5451DEFF71}"/>
              </a:ext>
            </a:extLst>
          </p:cNvPr>
          <p:cNvSpPr>
            <a:spLocks noGrp="1"/>
          </p:cNvSpPr>
          <p:nvPr>
            <p:ph type="body" idx="1"/>
          </p:nvPr>
        </p:nvSpPr>
        <p:spPr>
          <a:xfrm>
            <a:off x="271649" y="1016636"/>
            <a:ext cx="8648575" cy="3627175"/>
          </a:xfrm>
        </p:spPr>
        <p:txBody>
          <a:bodyPr>
            <a:noAutofit/>
          </a:bodyPr>
          <a:lstStyle/>
          <a:p>
            <a:pPr marL="285750" indent="-171450">
              <a:buFont typeface="Arial" panose="020B0604020202020204" pitchFamily="34" charset="0"/>
              <a:buChar char="•"/>
            </a:pPr>
            <a:r>
              <a:rPr lang="en-US" sz="2400" dirty="0"/>
              <a:t>whoami /all</a:t>
            </a:r>
          </a:p>
          <a:p>
            <a:pPr marL="285750" indent="-171450">
              <a:buFont typeface="Arial" panose="020B0604020202020204" pitchFamily="34" charset="0"/>
              <a:buChar char="•"/>
            </a:pPr>
            <a:r>
              <a:rPr lang="en-US" sz="2400" dirty="0"/>
              <a:t>Get-LocalUser | Select-Object `</a:t>
            </a:r>
          </a:p>
          <a:p>
            <a:pPr marL="114300" indent="0">
              <a:buNone/>
            </a:pPr>
            <a:r>
              <a:rPr lang="en-US" sz="2400" dirty="0"/>
              <a:t>   Name `</a:t>
            </a:r>
          </a:p>
          <a:p>
            <a:pPr marL="114300" indent="0">
              <a:buNone/>
            </a:pPr>
            <a:r>
              <a:rPr lang="en-US" sz="2400" dirty="0"/>
              <a:t>   Unit `</a:t>
            </a:r>
          </a:p>
          <a:p>
            <a:pPr marL="114300" indent="0">
              <a:buNone/>
            </a:pPr>
            <a:r>
              <a:rPr lang="en-US" sz="2400" dirty="0"/>
              <a:t>   Experience `</a:t>
            </a:r>
          </a:p>
          <a:p>
            <a:pPr marL="114300" indent="0">
              <a:buNone/>
            </a:pPr>
            <a:r>
              <a:rPr lang="en-US" sz="2400" dirty="0"/>
              <a:t>   Course Goals </a:t>
            </a:r>
          </a:p>
        </p:txBody>
      </p:sp>
      <p:pic>
        <p:nvPicPr>
          <p:cNvPr id="2" name="Google Shape;200;p5" title="Mr.Meeseeks.jpg">
            <a:extLst>
              <a:ext uri="{FF2B5EF4-FFF2-40B4-BE49-F238E27FC236}">
                <a16:creationId xmlns:a16="http://schemas.microsoft.com/office/drawing/2014/main" id="{50CB41AE-A71D-D07B-FDE0-24CFC95A8FF0}"/>
              </a:ext>
            </a:extLst>
          </p:cNvPr>
          <p:cNvPicPr preferRelativeResize="0"/>
          <p:nvPr/>
        </p:nvPicPr>
        <p:blipFill>
          <a:blip r:embed="rId2">
            <a:alphaModFix/>
          </a:blip>
          <a:stretch>
            <a:fillRect/>
          </a:stretch>
        </p:blipFill>
        <p:spPr>
          <a:xfrm>
            <a:off x="5670697" y="854355"/>
            <a:ext cx="1978940" cy="2377943"/>
          </a:xfrm>
          <a:prstGeom prst="rect">
            <a:avLst/>
          </a:prstGeom>
          <a:noFill/>
          <a:ln>
            <a:noFill/>
          </a:ln>
        </p:spPr>
      </p:pic>
      <p:sp>
        <p:nvSpPr>
          <p:cNvPr id="7" name="Google Shape;201;p5">
            <a:extLst>
              <a:ext uri="{FF2B5EF4-FFF2-40B4-BE49-F238E27FC236}">
                <a16:creationId xmlns:a16="http://schemas.microsoft.com/office/drawing/2014/main" id="{9E295BD7-AE06-6DCC-114A-90D56DCE9273}"/>
              </a:ext>
            </a:extLst>
          </p:cNvPr>
          <p:cNvSpPr txBox="1"/>
          <p:nvPr/>
        </p:nvSpPr>
        <p:spPr>
          <a:xfrm>
            <a:off x="5249874" y="3342303"/>
            <a:ext cx="3296412" cy="106203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en-US" sz="1800" dirty="0">
                <a:solidFill>
                  <a:schemeClr val="bg1"/>
                </a:solidFill>
              </a:rPr>
              <a:t>Discord: </a:t>
            </a:r>
            <a:r>
              <a:rPr lang="en-US" sz="1800" b="1" dirty="0">
                <a:solidFill>
                  <a:schemeClr val="bg1"/>
                </a:solidFill>
              </a:rPr>
              <a:t>vandey</a:t>
            </a:r>
            <a:endParaRPr sz="1800" b="1" dirty="0">
              <a:solidFill>
                <a:schemeClr val="bg1"/>
              </a:solidFill>
            </a:endParaRPr>
          </a:p>
          <a:p>
            <a:pPr marL="457200" lvl="0" indent="-342900" algn="l" rtl="0">
              <a:spcBef>
                <a:spcPts val="0"/>
              </a:spcBef>
              <a:spcAft>
                <a:spcPts val="0"/>
              </a:spcAft>
              <a:buClr>
                <a:schemeClr val="dk1"/>
              </a:buClr>
              <a:buSzPts val="1800"/>
              <a:buChar char="-"/>
            </a:pPr>
            <a:r>
              <a:rPr lang="en-US" sz="1800" dirty="0">
                <a:solidFill>
                  <a:schemeClr val="bg1"/>
                </a:solidFill>
              </a:rPr>
              <a:t>Chief Beef or Vandey</a:t>
            </a:r>
            <a:endParaRPr sz="1800" dirty="0">
              <a:solidFill>
                <a:schemeClr val="bg1"/>
              </a:solidFill>
            </a:endParaRPr>
          </a:p>
          <a:p>
            <a:pPr marL="457200" lvl="0" indent="-342900" algn="l" rtl="0">
              <a:spcBef>
                <a:spcPts val="0"/>
              </a:spcBef>
              <a:spcAft>
                <a:spcPts val="0"/>
              </a:spcAft>
              <a:buClr>
                <a:schemeClr val="dk1"/>
              </a:buClr>
              <a:buSzPts val="1800"/>
              <a:buChar char="-"/>
            </a:pPr>
            <a:r>
              <a:rPr lang="en-US" sz="1800" dirty="0">
                <a:solidFill>
                  <a:schemeClr val="bg1"/>
                </a:solidFill>
              </a:rPr>
              <a:t>Certs and stuff</a:t>
            </a:r>
            <a:endParaRPr sz="1800" dirty="0">
              <a:solidFill>
                <a:schemeClr val="bg1"/>
              </a:solidFill>
            </a:endParaRPr>
          </a:p>
        </p:txBody>
      </p:sp>
    </p:spTree>
    <p:extLst>
      <p:ext uri="{BB962C8B-B14F-4D97-AF65-F5344CB8AC3E}">
        <p14:creationId xmlns:p14="http://schemas.microsoft.com/office/powerpoint/2010/main" val="73069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A2CB29-BF26-3080-0B20-8BFDA68117F4}"/>
              </a:ext>
            </a:extLst>
          </p:cNvPr>
          <p:cNvSpPr>
            <a:spLocks noGrp="1"/>
          </p:cNvSpPr>
          <p:nvPr>
            <p:ph type="title"/>
          </p:nvPr>
        </p:nvSpPr>
        <p:spPr>
          <a:xfrm>
            <a:off x="0" y="434367"/>
            <a:ext cx="9144000" cy="572700"/>
          </a:xfrm>
        </p:spPr>
        <p:txBody>
          <a:bodyPr>
            <a:noAutofit/>
          </a:bodyPr>
          <a:lstStyle/>
          <a:p>
            <a:pPr algn="ctr"/>
            <a:r>
              <a:rPr lang="en-US" dirty="0"/>
              <a:t>Objectives</a:t>
            </a:r>
          </a:p>
        </p:txBody>
      </p:sp>
      <p:sp>
        <p:nvSpPr>
          <p:cNvPr id="4" name="Text Placeholder 3">
            <a:extLst>
              <a:ext uri="{FF2B5EF4-FFF2-40B4-BE49-F238E27FC236}">
                <a16:creationId xmlns:a16="http://schemas.microsoft.com/office/drawing/2014/main" id="{C456522A-175E-47E1-6CE8-72A1120947EC}"/>
              </a:ext>
            </a:extLst>
          </p:cNvPr>
          <p:cNvSpPr>
            <a:spLocks noGrp="1"/>
          </p:cNvSpPr>
          <p:nvPr>
            <p:ph type="body" idx="1"/>
          </p:nvPr>
        </p:nvSpPr>
        <p:spPr>
          <a:xfrm>
            <a:off x="271649" y="1016636"/>
            <a:ext cx="8648575" cy="3627175"/>
          </a:xfrm>
        </p:spPr>
        <p:txBody>
          <a:bodyPr>
            <a:noAutofit/>
          </a:bodyPr>
          <a:lstStyle/>
          <a:p>
            <a:pPr marL="285750" indent="-171450">
              <a:buFont typeface="Arial" panose="020B0604020202020204" pitchFamily="34" charset="0"/>
              <a:buChar char="•"/>
            </a:pPr>
            <a:r>
              <a:rPr lang="en-US" sz="1400" dirty="0"/>
              <a:t>Describe the architecture and operational workflow of the Adaptix C2 framework</a:t>
            </a:r>
          </a:p>
          <a:p>
            <a:pPr marL="285750" indent="-171450">
              <a:buFont typeface="Arial" panose="020B0604020202020204" pitchFamily="34" charset="0"/>
              <a:buChar char="•"/>
            </a:pPr>
            <a:r>
              <a:rPr lang="en-US" sz="1400" dirty="0"/>
              <a:t>Create and deploy evasive payloads and assess their interaction with modern endpoint defenses, including antivirus (AV) and endpoint detection and response (EDR) solutions</a:t>
            </a:r>
          </a:p>
          <a:p>
            <a:pPr marL="285750" indent="-171450">
              <a:buFont typeface="Arial" panose="020B0604020202020204" pitchFamily="34" charset="0"/>
              <a:buChar char="•"/>
            </a:pPr>
            <a:r>
              <a:rPr lang="en-US" sz="1400" dirty="0"/>
              <a:t>Analyze Windows hosts and Active Directory environments to identify privilege escalation and lateral movement opportunities</a:t>
            </a:r>
          </a:p>
          <a:p>
            <a:pPr marL="285750" indent="-171450">
              <a:buFont typeface="Arial" panose="020B0604020202020204" pitchFamily="34" charset="0"/>
              <a:buChar char="•"/>
            </a:pPr>
            <a:r>
              <a:rPr lang="en-US" sz="1400" dirty="0"/>
              <a:t>Implement persistence and privilege escalation techniques appropriate to Windows enterprise environments</a:t>
            </a:r>
          </a:p>
          <a:p>
            <a:pPr marL="285750" indent="-171450">
              <a:buFont typeface="Arial" panose="020B0604020202020204" pitchFamily="34" charset="0"/>
              <a:buChar char="•"/>
            </a:pPr>
            <a:r>
              <a:rPr lang="en-US" sz="1400" dirty="0"/>
              <a:t>Acquire and use credentials to perform authorized identity impersonation during simulated engagements</a:t>
            </a:r>
          </a:p>
          <a:p>
            <a:pPr marL="285750" indent="-171450">
              <a:buFont typeface="Arial" panose="020B0604020202020204" pitchFamily="34" charset="0"/>
              <a:buChar char="•"/>
            </a:pPr>
            <a:r>
              <a:rPr lang="en-US" sz="1400" dirty="0"/>
              <a:t>Configure SOCKS proxies and peer-to-peer (P2P) agents to pivot through segmented networks</a:t>
            </a:r>
          </a:p>
          <a:p>
            <a:pPr marL="285750" indent="-171450">
              <a:buFont typeface="Arial" panose="020B0604020202020204" pitchFamily="34" charset="0"/>
              <a:buChar char="•"/>
            </a:pPr>
            <a:r>
              <a:rPr lang="en-US" sz="1400" dirty="0"/>
              <a:t>Evaluate and execute a complete Active Directory discretionary access control list (DACL) abuse path from a low-privilege user account to full domain compromise within a controlled lab environment</a:t>
            </a:r>
          </a:p>
        </p:txBody>
      </p:sp>
    </p:spTree>
    <p:extLst>
      <p:ext uri="{BB962C8B-B14F-4D97-AF65-F5344CB8AC3E}">
        <p14:creationId xmlns:p14="http://schemas.microsoft.com/office/powerpoint/2010/main" val="1867552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ACF1D-E984-42F4-6E86-C7BC9D6B31AF}"/>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78087C86-F08C-629F-9702-C8B553929BA1}"/>
              </a:ext>
            </a:extLst>
          </p:cNvPr>
          <p:cNvSpPr txBox="1">
            <a:spLocks/>
          </p:cNvSpPr>
          <p:nvPr/>
        </p:nvSpPr>
        <p:spPr>
          <a:xfrm>
            <a:off x="0" y="434367"/>
            <a:ext cx="914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Arial"/>
              <a:buNone/>
              <a:defRPr sz="28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dirty="0"/>
              <a:t>Lab</a:t>
            </a:r>
          </a:p>
        </p:txBody>
      </p:sp>
      <p:sp>
        <p:nvSpPr>
          <p:cNvPr id="4" name="Text Placeholder 3">
            <a:extLst>
              <a:ext uri="{FF2B5EF4-FFF2-40B4-BE49-F238E27FC236}">
                <a16:creationId xmlns:a16="http://schemas.microsoft.com/office/drawing/2014/main" id="{261963CB-7323-67B3-F664-7214CAEBADBD}"/>
              </a:ext>
            </a:extLst>
          </p:cNvPr>
          <p:cNvSpPr>
            <a:spLocks noGrp="1"/>
          </p:cNvSpPr>
          <p:nvPr>
            <p:ph type="body" idx="1"/>
          </p:nvPr>
        </p:nvSpPr>
        <p:spPr>
          <a:xfrm>
            <a:off x="252761" y="1036923"/>
            <a:ext cx="4966010" cy="3416400"/>
          </a:xfrm>
        </p:spPr>
        <p:txBody>
          <a:bodyPr>
            <a:noAutofit/>
          </a:bodyPr>
          <a:lstStyle/>
          <a:p>
            <a:pPr marL="285750" indent="-173038">
              <a:buFont typeface="Arial" panose="020B0604020202020204" pitchFamily="34" charset="0"/>
              <a:buChar char="•"/>
            </a:pPr>
            <a:r>
              <a:rPr lang="en-US" sz="1800" dirty="0"/>
              <a:t>Windows hosts are running Sysmon and Windows Defender</a:t>
            </a:r>
          </a:p>
          <a:p>
            <a:pPr marL="285750" indent="-173038">
              <a:buFont typeface="Arial" panose="020B0604020202020204" pitchFamily="34" charset="0"/>
              <a:buChar char="•"/>
            </a:pPr>
            <a:endParaRPr lang="en-US" sz="1600" dirty="0"/>
          </a:p>
          <a:p>
            <a:pPr marL="285750" indent="-173038">
              <a:buFont typeface="Arial" panose="020B0604020202020204" pitchFamily="34" charset="0"/>
              <a:buChar char="•"/>
            </a:pPr>
            <a:r>
              <a:rPr lang="en-US" sz="1800" dirty="0"/>
              <a:t>C:\DevTools on WS01 excluded from Windows Defender</a:t>
            </a:r>
          </a:p>
          <a:p>
            <a:pPr marL="285750" indent="-173038">
              <a:buFont typeface="Arial" panose="020B0604020202020204" pitchFamily="34" charset="0"/>
              <a:buChar char="•"/>
            </a:pPr>
            <a:endParaRPr lang="en-US" sz="1600" dirty="0"/>
          </a:p>
          <a:p>
            <a:pPr marL="285750" indent="-173038">
              <a:buFont typeface="Arial" panose="020B0604020202020204" pitchFamily="34" charset="0"/>
              <a:buChar char="•"/>
            </a:pPr>
            <a:r>
              <a:rPr lang="en-US" sz="1800" dirty="0"/>
              <a:t>WS01 will also be used for some “offensive development” to reduce system requirements</a:t>
            </a:r>
          </a:p>
          <a:p>
            <a:pPr marL="285750" indent="-173038">
              <a:buFont typeface="Arial" panose="020B0604020202020204" pitchFamily="34" charset="0"/>
              <a:buChar char="•"/>
            </a:pPr>
            <a:endParaRPr lang="en-US" sz="1600" dirty="0"/>
          </a:p>
          <a:p>
            <a:pPr marL="285750" indent="-173038">
              <a:buFont typeface="Arial" panose="020B0604020202020204" pitchFamily="34" charset="0"/>
              <a:buChar char="•"/>
            </a:pPr>
            <a:r>
              <a:rPr lang="en-US" sz="1800" dirty="0"/>
              <a:t>/opt on Kali is the location of most tools including .NET (SharpCollection)</a:t>
            </a:r>
          </a:p>
        </p:txBody>
      </p:sp>
      <p:pic>
        <p:nvPicPr>
          <p:cNvPr id="11" name="Picture 10">
            <a:extLst>
              <a:ext uri="{FF2B5EF4-FFF2-40B4-BE49-F238E27FC236}">
                <a16:creationId xmlns:a16="http://schemas.microsoft.com/office/drawing/2014/main" id="{9394ACE3-7872-4EA4-15B2-D8F6EE3C0936}"/>
              </a:ext>
            </a:extLst>
          </p:cNvPr>
          <p:cNvPicPr>
            <a:picLocks noChangeAspect="1"/>
          </p:cNvPicPr>
          <p:nvPr/>
        </p:nvPicPr>
        <p:blipFill>
          <a:blip r:embed="rId3"/>
          <a:stretch>
            <a:fillRect/>
          </a:stretch>
        </p:blipFill>
        <p:spPr>
          <a:xfrm>
            <a:off x="5120699" y="1308514"/>
            <a:ext cx="3867718" cy="2393691"/>
          </a:xfrm>
          <a:prstGeom prst="rect">
            <a:avLst/>
          </a:prstGeom>
        </p:spPr>
      </p:pic>
    </p:spTree>
    <p:extLst>
      <p:ext uri="{BB962C8B-B14F-4D97-AF65-F5344CB8AC3E}">
        <p14:creationId xmlns:p14="http://schemas.microsoft.com/office/powerpoint/2010/main" val="182941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6E9A4-E29B-E68D-3676-9D9840C2B1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FC51C7F-09D1-7115-6CEF-4E24A2876B90}"/>
              </a:ext>
            </a:extLst>
          </p:cNvPr>
          <p:cNvSpPr>
            <a:spLocks noGrp="1"/>
          </p:cNvSpPr>
          <p:nvPr>
            <p:ph type="title"/>
          </p:nvPr>
        </p:nvSpPr>
        <p:spPr>
          <a:xfrm>
            <a:off x="0" y="434367"/>
            <a:ext cx="9144000" cy="572700"/>
          </a:xfrm>
        </p:spPr>
        <p:txBody>
          <a:bodyPr>
            <a:noAutofit/>
          </a:bodyPr>
          <a:lstStyle/>
          <a:p>
            <a:pPr algn="ctr"/>
            <a:r>
              <a:rPr lang="en-US" dirty="0"/>
              <a:t>Adaptix C2</a:t>
            </a:r>
          </a:p>
        </p:txBody>
      </p:sp>
      <p:sp>
        <p:nvSpPr>
          <p:cNvPr id="4" name="Text Placeholder 3">
            <a:extLst>
              <a:ext uri="{FF2B5EF4-FFF2-40B4-BE49-F238E27FC236}">
                <a16:creationId xmlns:a16="http://schemas.microsoft.com/office/drawing/2014/main" id="{CBDDAE2B-20B8-AA89-D811-BEDBB6631017}"/>
              </a:ext>
            </a:extLst>
          </p:cNvPr>
          <p:cNvSpPr>
            <a:spLocks noGrp="1"/>
          </p:cNvSpPr>
          <p:nvPr>
            <p:ph type="body" idx="1"/>
          </p:nvPr>
        </p:nvSpPr>
        <p:spPr>
          <a:xfrm>
            <a:off x="271649" y="1016636"/>
            <a:ext cx="5557651" cy="3627175"/>
          </a:xfrm>
        </p:spPr>
        <p:txBody>
          <a:bodyPr>
            <a:noAutofit/>
          </a:bodyPr>
          <a:lstStyle/>
          <a:p>
            <a:pPr marL="285750" indent="-171450">
              <a:buFont typeface="Arial" panose="020B0604020202020204" pitchFamily="34" charset="0"/>
              <a:buChar char="•"/>
            </a:pPr>
            <a:r>
              <a:rPr lang="en-US" sz="1600" dirty="0"/>
              <a:t>Open-source C2 framework by </a:t>
            </a:r>
            <a:r>
              <a:rPr lang="en-US" sz="1600" dirty="0">
                <a:solidFill>
                  <a:srgbClr val="00B0F0"/>
                </a:solidFill>
                <a:hlinkClick r:id="rId2">
                  <a:extLst>
                    <a:ext uri="{A12FA001-AC4F-418D-AE19-62706E023703}">
                      <ahyp:hlinkClr xmlns:ahyp="http://schemas.microsoft.com/office/drawing/2018/hyperlinkcolor" val="tx"/>
                    </a:ext>
                  </a:extLst>
                </a:hlinkClick>
              </a:rPr>
              <a:t>RalfHacker</a:t>
            </a:r>
            <a:endParaRPr lang="en-US" sz="1600" dirty="0">
              <a:solidFill>
                <a:srgbClr val="00B0F0"/>
              </a:solidFill>
            </a:endParaRPr>
          </a:p>
          <a:p>
            <a:pPr marL="285750" indent="-171450">
              <a:buFont typeface="Arial" panose="020B0604020202020204" pitchFamily="34" charset="0"/>
              <a:buChar char="•"/>
            </a:pPr>
            <a:endParaRPr lang="en-US" sz="1600" dirty="0"/>
          </a:p>
          <a:p>
            <a:pPr marL="285750" indent="-171450">
              <a:buFont typeface="Arial" panose="020B0604020202020204" pitchFamily="34" charset="0"/>
              <a:buChar char="•"/>
            </a:pPr>
            <a:r>
              <a:rPr lang="en-US" sz="1600" dirty="0"/>
              <a:t>Server – written in Go, configured with profile.yaml</a:t>
            </a:r>
          </a:p>
          <a:p>
            <a:pPr marL="285750" indent="-171450">
              <a:buFont typeface="Arial" panose="020B0604020202020204" pitchFamily="34" charset="0"/>
              <a:buChar char="•"/>
            </a:pPr>
            <a:endParaRPr lang="en-US" sz="1600" dirty="0"/>
          </a:p>
          <a:p>
            <a:pPr marL="285750" indent="-171450">
              <a:buFont typeface="Arial" panose="020B0604020202020204" pitchFamily="34" charset="0"/>
              <a:buChar char="•"/>
            </a:pPr>
            <a:r>
              <a:rPr lang="en-US" sz="1600" dirty="0"/>
              <a:t>Extenders – Go modules that extend server functionality adding listeners and agent types</a:t>
            </a:r>
          </a:p>
          <a:p>
            <a:pPr marL="285750" indent="-171450">
              <a:buFont typeface="Arial" panose="020B0604020202020204" pitchFamily="34" charset="0"/>
              <a:buChar char="•"/>
            </a:pPr>
            <a:endParaRPr lang="en-US" sz="1600" dirty="0"/>
          </a:p>
          <a:p>
            <a:pPr marL="285750" indent="-171450">
              <a:buFont typeface="Arial" panose="020B0604020202020204" pitchFamily="34" charset="0"/>
              <a:buChar char="•"/>
            </a:pPr>
            <a:r>
              <a:rPr lang="en-US" sz="1600" dirty="0"/>
              <a:t>Client – written in C++ Qt, supports Linux, Windows, and MacOS</a:t>
            </a:r>
          </a:p>
          <a:p>
            <a:pPr marL="285750" indent="-171450">
              <a:buFont typeface="Arial" panose="020B0604020202020204" pitchFamily="34" charset="0"/>
              <a:buChar char="•"/>
            </a:pPr>
            <a:endParaRPr lang="en-US" sz="1600" dirty="0"/>
          </a:p>
          <a:p>
            <a:pPr marL="285750" indent="-171450">
              <a:buFont typeface="Arial" panose="020B0604020202020204" pitchFamily="34" charset="0"/>
              <a:buChar char="•"/>
            </a:pPr>
            <a:r>
              <a:rPr lang="en-US" sz="1600" dirty="0"/>
              <a:t>AxScript – scripting language built into AdaptixC2, inspired by Cobalt Strike’s Agressor Script</a:t>
            </a:r>
          </a:p>
        </p:txBody>
      </p:sp>
      <p:pic>
        <p:nvPicPr>
          <p:cNvPr id="5" name="Picture 4">
            <a:extLst>
              <a:ext uri="{FF2B5EF4-FFF2-40B4-BE49-F238E27FC236}">
                <a16:creationId xmlns:a16="http://schemas.microsoft.com/office/drawing/2014/main" id="{7AD725F1-A9D3-D8EB-9FC0-16F2208BA7C0}"/>
              </a:ext>
            </a:extLst>
          </p:cNvPr>
          <p:cNvPicPr>
            <a:picLocks noChangeAspect="1"/>
          </p:cNvPicPr>
          <p:nvPr/>
        </p:nvPicPr>
        <p:blipFill>
          <a:blip r:embed="rId3"/>
          <a:stretch>
            <a:fillRect/>
          </a:stretch>
        </p:blipFill>
        <p:spPr>
          <a:xfrm>
            <a:off x="6178309" y="1281546"/>
            <a:ext cx="2580409" cy="2580409"/>
          </a:xfrm>
          <a:prstGeom prst="rect">
            <a:avLst/>
          </a:prstGeom>
        </p:spPr>
      </p:pic>
    </p:spTree>
    <p:extLst>
      <p:ext uri="{BB962C8B-B14F-4D97-AF65-F5344CB8AC3E}">
        <p14:creationId xmlns:p14="http://schemas.microsoft.com/office/powerpoint/2010/main" val="1916622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5793D-DF3A-DE1E-424B-47C047D964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26CF23-AD56-CD06-9434-21932B4072B2}"/>
              </a:ext>
            </a:extLst>
          </p:cNvPr>
          <p:cNvSpPr>
            <a:spLocks noGrp="1"/>
          </p:cNvSpPr>
          <p:nvPr>
            <p:ph type="title"/>
          </p:nvPr>
        </p:nvSpPr>
        <p:spPr>
          <a:xfrm>
            <a:off x="0" y="434367"/>
            <a:ext cx="9144000" cy="572700"/>
          </a:xfrm>
        </p:spPr>
        <p:txBody>
          <a:bodyPr>
            <a:noAutofit/>
          </a:bodyPr>
          <a:lstStyle/>
          <a:p>
            <a:pPr algn="ctr"/>
            <a:r>
              <a:rPr lang="en-US" dirty="0"/>
              <a:t>Listeners</a:t>
            </a:r>
          </a:p>
        </p:txBody>
      </p:sp>
      <p:sp>
        <p:nvSpPr>
          <p:cNvPr id="4" name="Text Placeholder 3">
            <a:extLst>
              <a:ext uri="{FF2B5EF4-FFF2-40B4-BE49-F238E27FC236}">
                <a16:creationId xmlns:a16="http://schemas.microsoft.com/office/drawing/2014/main" id="{A6AEE0DF-8409-2501-4FD7-F9F9BF6C3B57}"/>
              </a:ext>
            </a:extLst>
          </p:cNvPr>
          <p:cNvSpPr>
            <a:spLocks noGrp="1"/>
          </p:cNvSpPr>
          <p:nvPr>
            <p:ph type="body" idx="1"/>
          </p:nvPr>
        </p:nvSpPr>
        <p:spPr>
          <a:xfrm>
            <a:off x="271649" y="1016636"/>
            <a:ext cx="5557651" cy="3627175"/>
          </a:xfrm>
        </p:spPr>
        <p:txBody>
          <a:bodyPr>
            <a:noAutofit/>
          </a:bodyPr>
          <a:lstStyle/>
          <a:p>
            <a:pPr marL="285750" indent="-171450">
              <a:buFont typeface="Arial" panose="020B0604020202020204" pitchFamily="34" charset="0"/>
              <a:buChar char="•"/>
            </a:pPr>
            <a:r>
              <a:rPr lang="en-US" sz="2000" dirty="0"/>
              <a:t>Two types of listeners</a:t>
            </a:r>
          </a:p>
          <a:p>
            <a:pPr marL="457200" lvl="1" indent="-112713">
              <a:buFont typeface="Arial" panose="020B0604020202020204" pitchFamily="34" charset="0"/>
              <a:buChar char="•"/>
            </a:pPr>
            <a:r>
              <a:rPr lang="en-US" sz="1600" dirty="0">
                <a:solidFill>
                  <a:schemeClr val="bg1"/>
                </a:solidFill>
              </a:rPr>
              <a:t>External listeners</a:t>
            </a:r>
          </a:p>
          <a:p>
            <a:pPr marL="457200" lvl="1" indent="-112713">
              <a:buFont typeface="Arial" panose="020B0604020202020204" pitchFamily="34" charset="0"/>
              <a:buChar char="•"/>
            </a:pPr>
            <a:r>
              <a:rPr lang="en-US" sz="1600" dirty="0">
                <a:solidFill>
                  <a:schemeClr val="bg1"/>
                </a:solidFill>
              </a:rPr>
              <a:t>Internal (P2P) listeners</a:t>
            </a:r>
          </a:p>
          <a:p>
            <a:pPr marL="285750" indent="-171450">
              <a:buFont typeface="Arial" panose="020B0604020202020204" pitchFamily="34" charset="0"/>
              <a:buChar char="•"/>
            </a:pPr>
            <a:r>
              <a:rPr lang="en-US" sz="2000" dirty="0"/>
              <a:t>External listeners</a:t>
            </a:r>
          </a:p>
          <a:p>
            <a:pPr marL="457200" lvl="1" indent="-112713">
              <a:buFont typeface="Arial" panose="020B0604020202020204" pitchFamily="34" charset="0"/>
              <a:buChar char="•"/>
            </a:pPr>
            <a:r>
              <a:rPr lang="en-US" sz="1600" dirty="0"/>
              <a:t>HTTP/HTTPs</a:t>
            </a:r>
          </a:p>
          <a:p>
            <a:pPr marL="457200" lvl="1" indent="-112713">
              <a:buFont typeface="Arial" panose="020B0604020202020204" pitchFamily="34" charset="0"/>
              <a:buChar char="•"/>
            </a:pPr>
            <a:r>
              <a:rPr lang="en-US" sz="1600" dirty="0"/>
              <a:t>GopherTCP (mTLS)</a:t>
            </a:r>
          </a:p>
          <a:p>
            <a:pPr marL="457200" lvl="1" indent="-112713">
              <a:buFont typeface="Arial" panose="020B0604020202020204" pitchFamily="34" charset="0"/>
              <a:buChar char="•"/>
            </a:pPr>
            <a:r>
              <a:rPr lang="en-US" sz="1600" dirty="0"/>
              <a:t>DNS</a:t>
            </a:r>
          </a:p>
          <a:p>
            <a:pPr marL="285750" indent="-171450">
              <a:buFont typeface="Arial" panose="020B0604020202020204" pitchFamily="34" charset="0"/>
              <a:buChar char="•"/>
            </a:pPr>
            <a:r>
              <a:rPr lang="en-US" sz="2000" dirty="0"/>
              <a:t>Internal listeners</a:t>
            </a:r>
          </a:p>
          <a:p>
            <a:pPr marL="457200" lvl="1" indent="-112713">
              <a:buFont typeface="Arial" panose="020B0604020202020204" pitchFamily="34" charset="0"/>
              <a:buChar char="•"/>
            </a:pPr>
            <a:r>
              <a:rPr lang="en-US" sz="1600" dirty="0"/>
              <a:t>TCP (bind)</a:t>
            </a:r>
          </a:p>
          <a:p>
            <a:pPr marL="457200" lvl="1" indent="-112713">
              <a:buFont typeface="Arial" panose="020B0604020202020204" pitchFamily="34" charset="0"/>
              <a:buChar char="•"/>
            </a:pPr>
            <a:r>
              <a:rPr lang="en-US" sz="1600" dirty="0"/>
              <a:t>SMB (named pipe)</a:t>
            </a:r>
          </a:p>
        </p:txBody>
      </p:sp>
      <p:pic>
        <p:nvPicPr>
          <p:cNvPr id="6" name="Picture 5">
            <a:extLst>
              <a:ext uri="{FF2B5EF4-FFF2-40B4-BE49-F238E27FC236}">
                <a16:creationId xmlns:a16="http://schemas.microsoft.com/office/drawing/2014/main" id="{D50842B3-16CE-BB84-6802-1E0258D6C385}"/>
              </a:ext>
            </a:extLst>
          </p:cNvPr>
          <p:cNvPicPr>
            <a:picLocks noChangeAspect="1"/>
          </p:cNvPicPr>
          <p:nvPr/>
        </p:nvPicPr>
        <p:blipFill>
          <a:blip r:embed="rId2"/>
          <a:stretch>
            <a:fillRect/>
          </a:stretch>
        </p:blipFill>
        <p:spPr>
          <a:xfrm>
            <a:off x="4509441" y="1326382"/>
            <a:ext cx="3833122" cy="2874841"/>
          </a:xfrm>
          <a:prstGeom prst="rect">
            <a:avLst/>
          </a:prstGeom>
        </p:spPr>
      </p:pic>
    </p:spTree>
    <p:extLst>
      <p:ext uri="{BB962C8B-B14F-4D97-AF65-F5344CB8AC3E}">
        <p14:creationId xmlns:p14="http://schemas.microsoft.com/office/powerpoint/2010/main" val="2127207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6BA20-5ABA-FD5E-3BA3-3F5AC7EB5C3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24723C-53B8-A1A6-507F-2849538ECD33}"/>
              </a:ext>
            </a:extLst>
          </p:cNvPr>
          <p:cNvSpPr>
            <a:spLocks noGrp="1"/>
          </p:cNvSpPr>
          <p:nvPr>
            <p:ph type="title"/>
          </p:nvPr>
        </p:nvSpPr>
        <p:spPr>
          <a:xfrm>
            <a:off x="0" y="434367"/>
            <a:ext cx="9144000" cy="572700"/>
          </a:xfrm>
        </p:spPr>
        <p:txBody>
          <a:bodyPr>
            <a:noAutofit/>
          </a:bodyPr>
          <a:lstStyle/>
          <a:p>
            <a:pPr algn="ctr"/>
            <a:r>
              <a:rPr lang="en-US" dirty="0"/>
              <a:t>Crystal Palace/The Garden</a:t>
            </a:r>
          </a:p>
        </p:txBody>
      </p:sp>
      <p:sp>
        <p:nvSpPr>
          <p:cNvPr id="4" name="Text Placeholder 3">
            <a:extLst>
              <a:ext uri="{FF2B5EF4-FFF2-40B4-BE49-F238E27FC236}">
                <a16:creationId xmlns:a16="http://schemas.microsoft.com/office/drawing/2014/main" id="{F065061A-0F54-177D-3486-A837CB2E0CA1}"/>
              </a:ext>
            </a:extLst>
          </p:cNvPr>
          <p:cNvSpPr>
            <a:spLocks noGrp="1"/>
          </p:cNvSpPr>
          <p:nvPr>
            <p:ph type="body" idx="1"/>
          </p:nvPr>
        </p:nvSpPr>
        <p:spPr>
          <a:xfrm>
            <a:off x="271649" y="1016636"/>
            <a:ext cx="8648575" cy="3627175"/>
          </a:xfrm>
        </p:spPr>
        <p:txBody>
          <a:bodyPr>
            <a:noAutofit/>
          </a:bodyPr>
          <a:lstStyle/>
          <a:p>
            <a:pPr marL="285750" indent="-171450">
              <a:buFont typeface="Arial" panose="020B0604020202020204" pitchFamily="34" charset="0"/>
              <a:buChar char="•"/>
            </a:pPr>
            <a:r>
              <a:rPr lang="en-US" dirty="0"/>
              <a:t>Written by Raphael Mudge, original creator of Cobalt Strike</a:t>
            </a:r>
          </a:p>
          <a:p>
            <a:pPr marL="285750" indent="-171450">
              <a:buFont typeface="Arial" panose="020B0604020202020204" pitchFamily="34" charset="0"/>
              <a:buChar char="•"/>
            </a:pPr>
            <a:r>
              <a:rPr lang="en-US" dirty="0"/>
              <a:t>Crystal Palace is a linker, linker script language, and Aspect-Oriented Programming toolset for building and transforming position-independent code</a:t>
            </a:r>
          </a:p>
          <a:p>
            <a:pPr marL="285750" indent="-171450">
              <a:buFont typeface="Arial" panose="020B0604020202020204" pitchFamily="34" charset="0"/>
              <a:buChar char="•"/>
            </a:pPr>
            <a:r>
              <a:rPr lang="en-US" dirty="0"/>
              <a:t>The Garden is a collection of modular, reusable evasion techniques packaged as load-time and runtime tradecraft components</a:t>
            </a:r>
          </a:p>
          <a:p>
            <a:pPr marL="285750" indent="-171450">
              <a:buFont typeface="Arial" panose="020B0604020202020204" pitchFamily="34" charset="0"/>
              <a:buChar char="•"/>
            </a:pPr>
            <a:r>
              <a:rPr lang="en-US" dirty="0"/>
              <a:t>This course will use two projects from </a:t>
            </a:r>
            <a:r>
              <a:rPr lang="en-US" dirty="0">
                <a:solidFill>
                  <a:srgbClr val="0070C0"/>
                </a:solidFill>
                <a:hlinkClick r:id="rId3">
                  <a:extLst>
                    <a:ext uri="{A12FA001-AC4F-418D-AE19-62706E023703}">
                      <ahyp:hlinkClr xmlns:ahyp="http://schemas.microsoft.com/office/drawing/2018/hyperlinkcolor" val="tx"/>
                    </a:ext>
                  </a:extLst>
                </a:hlinkClick>
              </a:rPr>
              <a:t>k1ngOfnOth1ng</a:t>
            </a:r>
            <a:r>
              <a:rPr lang="en-US" dirty="0">
                <a:solidFill>
                  <a:schemeClr val="bg1"/>
                </a:solidFill>
              </a:rPr>
              <a:t>,</a:t>
            </a:r>
            <a:r>
              <a:rPr lang="en-US" dirty="0">
                <a:solidFill>
                  <a:srgbClr val="0070C0"/>
                </a:solidFill>
              </a:rPr>
              <a:t> </a:t>
            </a:r>
            <a:r>
              <a:rPr lang="en-US" dirty="0">
                <a:solidFill>
                  <a:schemeClr val="bg1"/>
                </a:solidFill>
              </a:rPr>
              <a:t>b</a:t>
            </a:r>
            <a:r>
              <a:rPr lang="en-US" dirty="0"/>
              <a:t>oth projects are user-Defined Reflective Loader (UDRL) built on top of Crystal Palace </a:t>
            </a:r>
            <a:endParaRPr lang="en-US" dirty="0">
              <a:solidFill>
                <a:srgbClr val="0070C0"/>
              </a:solidFill>
            </a:endParaRPr>
          </a:p>
          <a:p>
            <a:pPr marL="457200" lvl="1" indent="-112713">
              <a:buFont typeface="Arial" panose="020B0604020202020204" pitchFamily="34" charset="0"/>
              <a:buChar char="•"/>
            </a:pPr>
            <a:r>
              <a:rPr lang="en-US" sz="1800" dirty="0">
                <a:solidFill>
                  <a:srgbClr val="0070C0"/>
                </a:solidFill>
                <a:hlinkClick r:id="rId4">
                  <a:extLst>
                    <a:ext uri="{A12FA001-AC4F-418D-AE19-62706E023703}">
                      <ahyp:hlinkClr xmlns:ahyp="http://schemas.microsoft.com/office/drawing/2018/hyperlinkcolor" val="tx"/>
                    </a:ext>
                  </a:extLst>
                </a:hlinkClick>
              </a:rPr>
              <a:t>CrystalForge</a:t>
            </a:r>
            <a:r>
              <a:rPr lang="en-US" sz="1800" dirty="0">
                <a:solidFill>
                  <a:srgbClr val="0070C0"/>
                </a:solidFill>
              </a:rPr>
              <a:t> </a:t>
            </a:r>
            <a:r>
              <a:rPr lang="en-US" sz="1800" dirty="0"/>
              <a:t>–</a:t>
            </a:r>
            <a:r>
              <a:rPr lang="en-US" sz="1800" dirty="0">
                <a:solidFill>
                  <a:srgbClr val="0070C0"/>
                </a:solidFill>
              </a:rPr>
              <a:t> </a:t>
            </a:r>
            <a:r>
              <a:rPr lang="en-US" sz="1800" dirty="0"/>
              <a:t>custom AdaptixC2 agent that modifies the default beacon agent to support a Crystal Palace based UDRL pipeline</a:t>
            </a:r>
          </a:p>
          <a:p>
            <a:pPr marL="457200" lvl="1" indent="-112713">
              <a:buFont typeface="Arial" panose="020B0604020202020204" pitchFamily="34" charset="0"/>
              <a:buChar char="•"/>
            </a:pPr>
            <a:r>
              <a:rPr lang="en-US" sz="1800" dirty="0">
                <a:solidFill>
                  <a:srgbClr val="0070C0"/>
                </a:solidFill>
                <a:hlinkClick r:id="rId5">
                  <a:extLst>
                    <a:ext uri="{A12FA001-AC4F-418D-AE19-62706E023703}">
                      <ahyp:hlinkClr xmlns:ahyp="http://schemas.microsoft.com/office/drawing/2018/hyperlinkcolor" val="tx"/>
                    </a:ext>
                  </a:extLst>
                </a:hlinkClick>
              </a:rPr>
              <a:t>Reflectra</a:t>
            </a:r>
            <a:r>
              <a:rPr lang="en-US" sz="1800" dirty="0"/>
              <a:t> – modular UDRL architecture that can be integrated across multiple C2 frameworks</a:t>
            </a:r>
          </a:p>
        </p:txBody>
      </p:sp>
    </p:spTree>
    <p:extLst>
      <p:ext uri="{BB962C8B-B14F-4D97-AF65-F5344CB8AC3E}">
        <p14:creationId xmlns:p14="http://schemas.microsoft.com/office/powerpoint/2010/main" val="477454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5FAB8F-F1AF-4CBB-4710-04C44E2CF29B}"/>
              </a:ext>
            </a:extLst>
          </p:cNvPr>
          <p:cNvSpPr>
            <a:spLocks noGrp="1"/>
          </p:cNvSpPr>
          <p:nvPr>
            <p:ph type="title"/>
          </p:nvPr>
        </p:nvSpPr>
        <p:spPr/>
        <p:txBody>
          <a:bodyPr/>
          <a:lstStyle/>
          <a:p>
            <a:r>
              <a:rPr lang="en-US" dirty="0"/>
              <a:t>DEMO</a:t>
            </a:r>
          </a:p>
        </p:txBody>
      </p:sp>
    </p:spTree>
    <p:extLst>
      <p:ext uri="{BB962C8B-B14F-4D97-AF65-F5344CB8AC3E}">
        <p14:creationId xmlns:p14="http://schemas.microsoft.com/office/powerpoint/2010/main" val="1420153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51119-5CF1-1C1D-632C-09CDED44255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620294-7A14-AD6A-5CEC-60E8EC760BAD}"/>
              </a:ext>
            </a:extLst>
          </p:cNvPr>
          <p:cNvSpPr>
            <a:spLocks noGrp="1"/>
          </p:cNvSpPr>
          <p:nvPr>
            <p:ph type="title"/>
          </p:nvPr>
        </p:nvSpPr>
        <p:spPr/>
        <p:txBody>
          <a:bodyPr/>
          <a:lstStyle/>
          <a:p>
            <a:r>
              <a:rPr lang="en-US" dirty="0"/>
              <a:t>LAB 1</a:t>
            </a:r>
          </a:p>
        </p:txBody>
      </p:sp>
    </p:spTree>
    <p:extLst>
      <p:ext uri="{BB962C8B-B14F-4D97-AF65-F5344CB8AC3E}">
        <p14:creationId xmlns:p14="http://schemas.microsoft.com/office/powerpoint/2010/main" val="2821802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524D1-F09F-8A5A-C8D6-9E9F93C27D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393755-F3BB-39A2-999E-FD59E2C9E20D}"/>
              </a:ext>
            </a:extLst>
          </p:cNvPr>
          <p:cNvSpPr>
            <a:spLocks noGrp="1"/>
          </p:cNvSpPr>
          <p:nvPr>
            <p:ph type="title"/>
          </p:nvPr>
        </p:nvSpPr>
        <p:spPr>
          <a:xfrm>
            <a:off x="0" y="434367"/>
            <a:ext cx="9144000" cy="572700"/>
          </a:xfrm>
        </p:spPr>
        <p:txBody>
          <a:bodyPr>
            <a:noAutofit/>
          </a:bodyPr>
          <a:lstStyle/>
          <a:p>
            <a:pPr algn="ctr"/>
            <a:r>
              <a:rPr lang="en-US" dirty="0"/>
              <a:t>Agents</a:t>
            </a:r>
          </a:p>
        </p:txBody>
      </p:sp>
      <p:sp>
        <p:nvSpPr>
          <p:cNvPr id="4" name="Text Placeholder 3">
            <a:extLst>
              <a:ext uri="{FF2B5EF4-FFF2-40B4-BE49-F238E27FC236}">
                <a16:creationId xmlns:a16="http://schemas.microsoft.com/office/drawing/2014/main" id="{2B21D009-F2F1-9A03-B1FE-B655C199E4FA}"/>
              </a:ext>
            </a:extLst>
          </p:cNvPr>
          <p:cNvSpPr>
            <a:spLocks noGrp="1"/>
          </p:cNvSpPr>
          <p:nvPr>
            <p:ph type="body" idx="1"/>
          </p:nvPr>
        </p:nvSpPr>
        <p:spPr>
          <a:xfrm>
            <a:off x="271649" y="1016636"/>
            <a:ext cx="5557651" cy="3627175"/>
          </a:xfrm>
        </p:spPr>
        <p:txBody>
          <a:bodyPr>
            <a:noAutofit/>
          </a:bodyPr>
          <a:lstStyle/>
          <a:p>
            <a:pPr marL="285750" indent="-171450">
              <a:buFont typeface="Arial" panose="020B0604020202020204" pitchFamily="34" charset="0"/>
              <a:buChar char="•"/>
            </a:pPr>
            <a:r>
              <a:rPr lang="en-US" sz="2000" dirty="0"/>
              <a:t>Beacon – Windows</a:t>
            </a:r>
          </a:p>
          <a:p>
            <a:pPr marL="285750" indent="-171450">
              <a:buFont typeface="Arial" panose="020B0604020202020204" pitchFamily="34" charset="0"/>
              <a:buChar char="•"/>
            </a:pPr>
            <a:r>
              <a:rPr lang="en-US" sz="2000" dirty="0"/>
              <a:t>Gopher – Windows, Linux, MacOS</a:t>
            </a:r>
          </a:p>
          <a:p>
            <a:pPr marL="285750" indent="-171450">
              <a:buFont typeface="Arial" panose="020B0604020202020204" pitchFamily="34" charset="0"/>
              <a:buChar char="•"/>
            </a:pPr>
            <a:r>
              <a:rPr lang="en-US" sz="2000" dirty="0"/>
              <a:t>CrystalForge – Windows</a:t>
            </a:r>
          </a:p>
          <a:p>
            <a:pPr marL="285750" indent="-171450">
              <a:buFont typeface="Arial" panose="020B0604020202020204" pitchFamily="34" charset="0"/>
              <a:buChar char="•"/>
            </a:pPr>
            <a:r>
              <a:rPr lang="en-US" sz="2000" dirty="0">
                <a:solidFill>
                  <a:srgbClr val="0070C0"/>
                </a:solidFill>
                <a:hlinkClick r:id="rId3">
                  <a:extLst>
                    <a:ext uri="{A12FA001-AC4F-418D-AE19-62706E023703}">
                      <ahyp:hlinkClr xmlns:ahyp="http://schemas.microsoft.com/office/drawing/2018/hyperlinkcolor" val="tx"/>
                    </a:ext>
                  </a:extLst>
                </a:hlinkClick>
              </a:rPr>
              <a:t>Kharon</a:t>
            </a:r>
            <a:r>
              <a:rPr lang="en-US" sz="2000" dirty="0"/>
              <a:t> – Windows</a:t>
            </a:r>
          </a:p>
          <a:p>
            <a:pPr marL="457200" lvl="1" indent="-112713">
              <a:buFont typeface="Arial" panose="020B0604020202020204" pitchFamily="34" charset="0"/>
              <a:buChar char="•"/>
            </a:pPr>
            <a:r>
              <a:rPr lang="en-US" sz="1800" dirty="0"/>
              <a:t>Position-Independent Code (PIC) agent</a:t>
            </a:r>
          </a:p>
          <a:p>
            <a:pPr marL="457200" lvl="1" indent="-112713">
              <a:buFont typeface="Arial" panose="020B0604020202020204" pitchFamily="34" charset="0"/>
              <a:buChar char="•"/>
            </a:pPr>
            <a:r>
              <a:rPr lang="en-US" sz="1800" dirty="0"/>
              <a:t>Malleable Profile using json files</a:t>
            </a:r>
          </a:p>
          <a:p>
            <a:pPr marL="742950" lvl="1" indent="-171450">
              <a:buFont typeface="Arial" panose="020B0604020202020204" pitchFamily="34" charset="0"/>
              <a:buChar char="•"/>
            </a:pPr>
            <a:endParaRPr lang="en-US" sz="1600" dirty="0"/>
          </a:p>
          <a:p>
            <a:pPr marL="742950" lvl="1" indent="-171450">
              <a:buFont typeface="Arial" panose="020B0604020202020204" pitchFamily="34" charset="0"/>
              <a:buChar char="•"/>
            </a:pPr>
            <a:endParaRPr lang="en-US" sz="1600" dirty="0"/>
          </a:p>
        </p:txBody>
      </p:sp>
      <p:pic>
        <p:nvPicPr>
          <p:cNvPr id="5" name="Picture 4">
            <a:extLst>
              <a:ext uri="{FF2B5EF4-FFF2-40B4-BE49-F238E27FC236}">
                <a16:creationId xmlns:a16="http://schemas.microsoft.com/office/drawing/2014/main" id="{B26EAC00-E12D-1F12-2821-EABDA6A9C337}"/>
              </a:ext>
            </a:extLst>
          </p:cNvPr>
          <p:cNvPicPr>
            <a:picLocks noChangeAspect="1"/>
          </p:cNvPicPr>
          <p:nvPr/>
        </p:nvPicPr>
        <p:blipFill>
          <a:blip r:embed="rId4"/>
          <a:stretch>
            <a:fillRect/>
          </a:stretch>
        </p:blipFill>
        <p:spPr>
          <a:xfrm>
            <a:off x="5524500" y="1071346"/>
            <a:ext cx="3167216" cy="3517753"/>
          </a:xfrm>
          <a:prstGeom prst="rect">
            <a:avLst/>
          </a:prstGeom>
        </p:spPr>
      </p:pic>
    </p:spTree>
    <p:extLst>
      <p:ext uri="{BB962C8B-B14F-4D97-AF65-F5344CB8AC3E}">
        <p14:creationId xmlns:p14="http://schemas.microsoft.com/office/powerpoint/2010/main" val="810717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F53FB-538F-30BE-6D93-91E48A8ED6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9347AE-455B-2EAD-D755-74FCD3574A0E}"/>
              </a:ext>
            </a:extLst>
          </p:cNvPr>
          <p:cNvSpPr>
            <a:spLocks noGrp="1"/>
          </p:cNvSpPr>
          <p:nvPr>
            <p:ph type="title"/>
          </p:nvPr>
        </p:nvSpPr>
        <p:spPr>
          <a:xfrm>
            <a:off x="0" y="434367"/>
            <a:ext cx="9144000" cy="572700"/>
          </a:xfrm>
        </p:spPr>
        <p:txBody>
          <a:bodyPr>
            <a:noAutofit/>
          </a:bodyPr>
          <a:lstStyle/>
          <a:p>
            <a:pPr algn="ctr"/>
            <a:r>
              <a:rPr lang="en-US" dirty="0"/>
              <a:t>AV/EDR Evasion Tools</a:t>
            </a:r>
          </a:p>
        </p:txBody>
      </p:sp>
      <p:sp>
        <p:nvSpPr>
          <p:cNvPr id="4" name="Text Placeholder 3">
            <a:extLst>
              <a:ext uri="{FF2B5EF4-FFF2-40B4-BE49-F238E27FC236}">
                <a16:creationId xmlns:a16="http://schemas.microsoft.com/office/drawing/2014/main" id="{1ED59522-09A8-15F1-3D16-1B64C1BC77B3}"/>
              </a:ext>
            </a:extLst>
          </p:cNvPr>
          <p:cNvSpPr>
            <a:spLocks noGrp="1"/>
          </p:cNvSpPr>
          <p:nvPr>
            <p:ph type="body" idx="1"/>
          </p:nvPr>
        </p:nvSpPr>
        <p:spPr>
          <a:xfrm>
            <a:off x="271649" y="1016636"/>
            <a:ext cx="8479061" cy="3627175"/>
          </a:xfrm>
        </p:spPr>
        <p:txBody>
          <a:bodyPr>
            <a:noAutofit/>
          </a:bodyPr>
          <a:lstStyle/>
          <a:p>
            <a:pPr marL="285750" indent="-171450">
              <a:buFont typeface="Arial" panose="020B0604020202020204" pitchFamily="34" charset="0"/>
              <a:buChar char="•"/>
            </a:pPr>
            <a:r>
              <a:rPr lang="en-US" sz="2000" dirty="0">
                <a:solidFill>
                  <a:srgbClr val="0070C0"/>
                </a:solidFill>
                <a:hlinkClick r:id="rId3">
                  <a:extLst>
                    <a:ext uri="{A12FA001-AC4F-418D-AE19-62706E023703}">
                      <ahyp:hlinkClr xmlns:ahyp="http://schemas.microsoft.com/office/drawing/2018/hyperlinkcolor" val="tx"/>
                    </a:ext>
                  </a:extLst>
                </a:hlinkClick>
              </a:rPr>
              <a:t>Beatrice</a:t>
            </a:r>
            <a:r>
              <a:rPr lang="en-US" sz="2000" dirty="0"/>
              <a:t> – modifies a binary's assembly instructions to evade YARA rules and antivirus signatures.</a:t>
            </a:r>
          </a:p>
          <a:p>
            <a:pPr marL="114300" indent="0">
              <a:buNone/>
            </a:pPr>
            <a:endParaRPr lang="en-US" sz="1400" dirty="0"/>
          </a:p>
          <a:p>
            <a:pPr marL="285750" indent="-171450">
              <a:buFont typeface="Arial" panose="020B0604020202020204" pitchFamily="34" charset="0"/>
              <a:buChar char="•"/>
            </a:pPr>
            <a:r>
              <a:rPr lang="en-US" sz="2000" dirty="0">
                <a:solidFill>
                  <a:srgbClr val="0070C0"/>
                </a:solidFill>
                <a:hlinkClick r:id="rId4">
                  <a:extLst>
                    <a:ext uri="{A12FA001-AC4F-418D-AE19-62706E023703}">
                      <ahyp:hlinkClr xmlns:ahyp="http://schemas.microsoft.com/office/drawing/2018/hyperlinkcolor" val="tx"/>
                    </a:ext>
                  </a:extLst>
                </a:hlinkClick>
              </a:rPr>
              <a:t>Lucky Spark </a:t>
            </a:r>
            <a:r>
              <a:rPr lang="en-US" sz="2000" dirty="0"/>
              <a:t>– loader featuring JIT shellcode decryption, fiber-based execution, dynamic API resolution, string obfuscation, CPU instruction patching, and disguised as FileZilla to evade detection</a:t>
            </a:r>
          </a:p>
          <a:p>
            <a:pPr marL="285750" indent="-171450">
              <a:buFont typeface="Arial" panose="020B0604020202020204" pitchFamily="34" charset="0"/>
              <a:buChar char="•"/>
            </a:pPr>
            <a:endParaRPr lang="en-US" sz="1400" dirty="0"/>
          </a:p>
          <a:p>
            <a:pPr marL="285750" indent="-171450">
              <a:buFont typeface="Arial" panose="020B0604020202020204" pitchFamily="34" charset="0"/>
              <a:buChar char="•"/>
            </a:pPr>
            <a:r>
              <a:rPr lang="en-US" sz="2000" dirty="0">
                <a:solidFill>
                  <a:srgbClr val="0070C0"/>
                </a:solidFill>
                <a:hlinkClick r:id="rId5">
                  <a:extLst>
                    <a:ext uri="{A12FA001-AC4F-418D-AE19-62706E023703}">
                      <ahyp:hlinkClr xmlns:ahyp="http://schemas.microsoft.com/office/drawing/2018/hyperlinkcolor" val="tx"/>
                    </a:ext>
                  </a:extLst>
                </a:hlinkClick>
              </a:rPr>
              <a:t>RedTeamGrimoire</a:t>
            </a:r>
            <a:r>
              <a:rPr lang="en-US" sz="2000" dirty="0"/>
              <a:t> Charon – </a:t>
            </a:r>
            <a:r>
              <a:rPr lang="en-US" dirty="0"/>
              <a:t>standalone, self-compiling artifact builder designed for Red Team operations. It creates a specialized executable for your shellcode that utilizes advanced evasion techniques to bypass EDR hooks, memory scanners, and static analysis</a:t>
            </a:r>
            <a:endParaRPr lang="en-US" sz="2000" dirty="0"/>
          </a:p>
          <a:p>
            <a:pPr marL="285750" indent="-171450">
              <a:buFont typeface="Arial" panose="020B0604020202020204" pitchFamily="34" charset="0"/>
              <a:buChar char="•"/>
            </a:pPr>
            <a:endParaRPr lang="en-US" sz="2000" dirty="0"/>
          </a:p>
          <a:p>
            <a:pPr marL="114300" indent="0">
              <a:buNone/>
            </a:pPr>
            <a:endParaRPr lang="en-US" sz="2000" dirty="0"/>
          </a:p>
          <a:p>
            <a:pPr marL="285750" indent="-171450">
              <a:buFont typeface="Arial" panose="020B0604020202020204" pitchFamily="34" charset="0"/>
              <a:buChar char="•"/>
            </a:pPr>
            <a:r>
              <a:rPr lang="en-US" sz="2000" dirty="0"/>
              <a:t>reflectra</a:t>
            </a:r>
          </a:p>
          <a:p>
            <a:pPr marL="571500" lvl="1" indent="0">
              <a:buNone/>
            </a:pPr>
            <a:endParaRPr lang="en-US" sz="1600" dirty="0"/>
          </a:p>
        </p:txBody>
      </p:sp>
    </p:spTree>
    <p:extLst>
      <p:ext uri="{BB962C8B-B14F-4D97-AF65-F5344CB8AC3E}">
        <p14:creationId xmlns:p14="http://schemas.microsoft.com/office/powerpoint/2010/main" val="1182098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3E865-9751-8142-D5C9-AAD344AD86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DBCFB2-E49A-66D1-EDCE-C94E1FA9583A}"/>
              </a:ext>
            </a:extLst>
          </p:cNvPr>
          <p:cNvSpPr>
            <a:spLocks noGrp="1"/>
          </p:cNvSpPr>
          <p:nvPr>
            <p:ph type="title"/>
          </p:nvPr>
        </p:nvSpPr>
        <p:spPr/>
        <p:txBody>
          <a:bodyPr/>
          <a:lstStyle/>
          <a:p>
            <a:r>
              <a:rPr lang="en-US" dirty="0"/>
              <a:t>DEMO</a:t>
            </a:r>
          </a:p>
        </p:txBody>
      </p:sp>
    </p:spTree>
    <p:extLst>
      <p:ext uri="{BB962C8B-B14F-4D97-AF65-F5344CB8AC3E}">
        <p14:creationId xmlns:p14="http://schemas.microsoft.com/office/powerpoint/2010/main" val="1880493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D26AF-5C82-3252-8394-F0D45F991B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914A17-2606-C89F-0923-ACBF3147AB63}"/>
              </a:ext>
            </a:extLst>
          </p:cNvPr>
          <p:cNvSpPr>
            <a:spLocks noGrp="1"/>
          </p:cNvSpPr>
          <p:nvPr>
            <p:ph type="title"/>
          </p:nvPr>
        </p:nvSpPr>
        <p:spPr/>
        <p:txBody>
          <a:bodyPr/>
          <a:lstStyle/>
          <a:p>
            <a:r>
              <a:rPr lang="en-US" dirty="0"/>
              <a:t>LAB 2</a:t>
            </a:r>
          </a:p>
        </p:txBody>
      </p:sp>
    </p:spTree>
    <p:extLst>
      <p:ext uri="{BB962C8B-B14F-4D97-AF65-F5344CB8AC3E}">
        <p14:creationId xmlns:p14="http://schemas.microsoft.com/office/powerpoint/2010/main" val="4271649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74AB6-74E5-6774-4E39-0243041251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DD71A4-5624-2EF3-CA45-BDCC5370B6BD}"/>
              </a:ext>
            </a:extLst>
          </p:cNvPr>
          <p:cNvSpPr>
            <a:spLocks noGrp="1"/>
          </p:cNvSpPr>
          <p:nvPr>
            <p:ph type="title"/>
          </p:nvPr>
        </p:nvSpPr>
        <p:spPr/>
        <p:txBody>
          <a:bodyPr/>
          <a:lstStyle/>
          <a:p>
            <a:r>
              <a:rPr lang="en-US" dirty="0"/>
              <a:t>LAB 3</a:t>
            </a:r>
          </a:p>
        </p:txBody>
      </p:sp>
    </p:spTree>
    <p:extLst>
      <p:ext uri="{BB962C8B-B14F-4D97-AF65-F5344CB8AC3E}">
        <p14:creationId xmlns:p14="http://schemas.microsoft.com/office/powerpoint/2010/main" val="2844888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2A6B8-8681-7BE6-1757-E6570383C16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9B20FC-E0F8-88F6-1498-49E00A491316}"/>
              </a:ext>
            </a:extLst>
          </p:cNvPr>
          <p:cNvSpPr>
            <a:spLocks noGrp="1"/>
          </p:cNvSpPr>
          <p:nvPr>
            <p:ph type="title"/>
          </p:nvPr>
        </p:nvSpPr>
        <p:spPr>
          <a:xfrm>
            <a:off x="0" y="434367"/>
            <a:ext cx="9144000" cy="572700"/>
          </a:xfrm>
        </p:spPr>
        <p:txBody>
          <a:bodyPr>
            <a:noAutofit/>
          </a:bodyPr>
          <a:lstStyle/>
          <a:p>
            <a:pPr algn="ctr"/>
            <a:r>
              <a:rPr lang="en-US" dirty="0"/>
              <a:t>Host/Domain Enumeration</a:t>
            </a:r>
          </a:p>
        </p:txBody>
      </p:sp>
      <p:sp>
        <p:nvSpPr>
          <p:cNvPr id="4" name="Text Placeholder 3">
            <a:extLst>
              <a:ext uri="{FF2B5EF4-FFF2-40B4-BE49-F238E27FC236}">
                <a16:creationId xmlns:a16="http://schemas.microsoft.com/office/drawing/2014/main" id="{54DE39F5-0160-E7C7-78F8-A1F65A7D678E}"/>
              </a:ext>
            </a:extLst>
          </p:cNvPr>
          <p:cNvSpPr>
            <a:spLocks noGrp="1"/>
          </p:cNvSpPr>
          <p:nvPr>
            <p:ph type="body" idx="1"/>
          </p:nvPr>
        </p:nvSpPr>
        <p:spPr>
          <a:xfrm>
            <a:off x="271649" y="1016636"/>
            <a:ext cx="8240449" cy="3627175"/>
          </a:xfrm>
        </p:spPr>
        <p:txBody>
          <a:bodyPr>
            <a:noAutofit/>
          </a:bodyPr>
          <a:lstStyle/>
          <a:p>
            <a:pPr marL="285750" indent="-171450">
              <a:buFont typeface="Arial" panose="020B0604020202020204" pitchFamily="34" charset="0"/>
              <a:buChar char="•"/>
            </a:pPr>
            <a:r>
              <a:rPr lang="en-US" sz="2000" dirty="0"/>
              <a:t>Understand the target network hosts, subnets, domain structure, and trust relationships</a:t>
            </a:r>
          </a:p>
          <a:p>
            <a:pPr marL="285750" indent="-171450">
              <a:buFont typeface="Arial" panose="020B0604020202020204" pitchFamily="34" charset="0"/>
              <a:buChar char="•"/>
            </a:pPr>
            <a:r>
              <a:rPr lang="en-US" sz="2000" dirty="0"/>
              <a:t>Enumerate users, groups, and their memberships to map access and privileges</a:t>
            </a:r>
          </a:p>
          <a:p>
            <a:pPr marL="285750" indent="-171450">
              <a:buFont typeface="Arial" panose="020B0604020202020204" pitchFamily="34" charset="0"/>
              <a:buChar char="•"/>
            </a:pPr>
            <a:r>
              <a:rPr lang="en-US" sz="2000" dirty="0"/>
              <a:t>Identify vulnerabilities and misconfigurations for privilege escalation Locate high-value targets: domain controllers, file servers, administrators</a:t>
            </a:r>
          </a:p>
          <a:p>
            <a:pPr marL="285750" indent="-171450">
              <a:buFont typeface="Arial" panose="020B0604020202020204" pitchFamily="34" charset="0"/>
              <a:buChar char="•"/>
            </a:pPr>
            <a:r>
              <a:rPr lang="en-US" sz="2000" dirty="0"/>
              <a:t>Identify active sessions and logged-in users to find lateral movement opportunities</a:t>
            </a:r>
          </a:p>
          <a:p>
            <a:pPr marL="285750" indent="-171450">
              <a:buFont typeface="Arial" panose="020B0604020202020204" pitchFamily="34" charset="0"/>
              <a:buChar char="•"/>
            </a:pPr>
            <a:r>
              <a:rPr lang="en-US" sz="2000" dirty="0"/>
              <a:t>Identify defenses: EDR, AV, logging, and monitoring in place</a:t>
            </a:r>
          </a:p>
        </p:txBody>
      </p:sp>
    </p:spTree>
    <p:extLst>
      <p:ext uri="{BB962C8B-B14F-4D97-AF65-F5344CB8AC3E}">
        <p14:creationId xmlns:p14="http://schemas.microsoft.com/office/powerpoint/2010/main" val="1128857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23EB8-49F4-E1D8-D763-8A754780F03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BC4D1D4-A1A7-F077-1B36-B67290C8D60C}"/>
              </a:ext>
            </a:extLst>
          </p:cNvPr>
          <p:cNvSpPr>
            <a:spLocks noGrp="1"/>
          </p:cNvSpPr>
          <p:nvPr>
            <p:ph type="title"/>
          </p:nvPr>
        </p:nvSpPr>
        <p:spPr>
          <a:xfrm>
            <a:off x="0" y="434367"/>
            <a:ext cx="9144000" cy="572700"/>
          </a:xfrm>
        </p:spPr>
        <p:txBody>
          <a:bodyPr>
            <a:noAutofit/>
          </a:bodyPr>
          <a:lstStyle/>
          <a:p>
            <a:pPr algn="ctr"/>
            <a:r>
              <a:rPr lang="en-US" dirty="0"/>
              <a:t>Host Enumeration</a:t>
            </a:r>
          </a:p>
        </p:txBody>
      </p:sp>
      <p:sp>
        <p:nvSpPr>
          <p:cNvPr id="4" name="Text Placeholder 3">
            <a:extLst>
              <a:ext uri="{FF2B5EF4-FFF2-40B4-BE49-F238E27FC236}">
                <a16:creationId xmlns:a16="http://schemas.microsoft.com/office/drawing/2014/main" id="{E733434B-83A7-3D8E-89A8-B3B535F0E9C7}"/>
              </a:ext>
            </a:extLst>
          </p:cNvPr>
          <p:cNvSpPr>
            <a:spLocks noGrp="1"/>
          </p:cNvSpPr>
          <p:nvPr>
            <p:ph type="body" idx="1"/>
          </p:nvPr>
        </p:nvSpPr>
        <p:spPr>
          <a:xfrm>
            <a:off x="271649" y="1016636"/>
            <a:ext cx="8574985" cy="3627175"/>
          </a:xfrm>
        </p:spPr>
        <p:txBody>
          <a:bodyPr>
            <a:noAutofit/>
          </a:bodyPr>
          <a:lstStyle/>
          <a:p>
            <a:pPr marL="285750" indent="-171450">
              <a:buFont typeface="Arial" panose="020B0604020202020204" pitchFamily="34" charset="0"/>
              <a:buChar char="•"/>
            </a:pPr>
            <a:r>
              <a:rPr lang="en-US" sz="2000" dirty="0"/>
              <a:t>Three BOF groups</a:t>
            </a:r>
          </a:p>
          <a:p>
            <a:pPr marL="460375" lvl="1" indent="-119063">
              <a:buFont typeface="Arial" panose="020B0604020202020204" pitchFamily="34" charset="0"/>
              <a:buChar char="•"/>
            </a:pPr>
            <a:r>
              <a:rPr lang="en-US" sz="2000" dirty="0"/>
              <a:t>SAL-BOF (privcheck *)</a:t>
            </a:r>
          </a:p>
          <a:p>
            <a:pPr marL="460375" lvl="1" indent="-119063">
              <a:buFont typeface="Arial" panose="020B0604020202020204" pitchFamily="34" charset="0"/>
              <a:buChar char="•"/>
            </a:pPr>
            <a:r>
              <a:rPr lang="en-US" sz="2000" dirty="0"/>
              <a:t>PostEx-BOF (screenshot_bof, sauroneye)</a:t>
            </a:r>
          </a:p>
          <a:p>
            <a:pPr marL="460375" lvl="1" indent="-119063">
              <a:buFont typeface="Arial" panose="020B0604020202020204" pitchFamily="34" charset="0"/>
              <a:buChar char="•"/>
            </a:pPr>
            <a:r>
              <a:rPr lang="en-US" sz="2000" dirty="0"/>
              <a:t>TrustedSec-SA-BOFs (combination of host and domain tools)</a:t>
            </a:r>
          </a:p>
          <a:p>
            <a:pPr marL="341312" lvl="1" indent="0">
              <a:buNone/>
            </a:pPr>
            <a:endParaRPr lang="en-US" sz="2000" dirty="0"/>
          </a:p>
          <a:p>
            <a:pPr marL="285750" indent="-171450">
              <a:buFont typeface="Arial" panose="020B0604020202020204" pitchFamily="34" charset="0"/>
              <a:buChar char="•"/>
            </a:pPr>
            <a:r>
              <a:rPr lang="en-US" sz="2000" dirty="0"/>
              <a:t>Seatbelt comprehensive host triage (credentials, configs, installed software, AV, etc.)</a:t>
            </a:r>
          </a:p>
          <a:p>
            <a:pPr marL="114300" indent="0">
              <a:buNone/>
            </a:pPr>
            <a:endParaRPr lang="en-US" sz="2000" dirty="0"/>
          </a:p>
          <a:p>
            <a:pPr marL="285750" indent="-171450">
              <a:buFont typeface="Arial" panose="020B0604020202020204" pitchFamily="34" charset="0"/>
              <a:buChar char="•"/>
            </a:pPr>
            <a:r>
              <a:rPr lang="en-US" sz="2000" dirty="0"/>
              <a:t>SharpUp focused privesc checks: unquoted paths, weak service perms, autoruns</a:t>
            </a:r>
            <a:endParaRPr lang="en-US" sz="1600" dirty="0"/>
          </a:p>
        </p:txBody>
      </p:sp>
    </p:spTree>
    <p:extLst>
      <p:ext uri="{BB962C8B-B14F-4D97-AF65-F5344CB8AC3E}">
        <p14:creationId xmlns:p14="http://schemas.microsoft.com/office/powerpoint/2010/main" val="2549039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FC873-9FE6-7C40-5529-18F8408D11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92F782-DECF-974B-BF86-E694CAB9E658}"/>
              </a:ext>
            </a:extLst>
          </p:cNvPr>
          <p:cNvSpPr>
            <a:spLocks noGrp="1"/>
          </p:cNvSpPr>
          <p:nvPr>
            <p:ph type="title"/>
          </p:nvPr>
        </p:nvSpPr>
        <p:spPr>
          <a:xfrm>
            <a:off x="0" y="434367"/>
            <a:ext cx="9144000" cy="572700"/>
          </a:xfrm>
        </p:spPr>
        <p:txBody>
          <a:bodyPr>
            <a:noAutofit/>
          </a:bodyPr>
          <a:lstStyle/>
          <a:p>
            <a:pPr algn="ctr"/>
            <a:r>
              <a:rPr lang="en-US" dirty="0"/>
              <a:t>Domain Enumeration</a:t>
            </a:r>
          </a:p>
        </p:txBody>
      </p:sp>
      <p:sp>
        <p:nvSpPr>
          <p:cNvPr id="4" name="Text Placeholder 3">
            <a:extLst>
              <a:ext uri="{FF2B5EF4-FFF2-40B4-BE49-F238E27FC236}">
                <a16:creationId xmlns:a16="http://schemas.microsoft.com/office/drawing/2014/main" id="{EDEC68B9-48D3-217E-C8F8-5EF03957A2FA}"/>
              </a:ext>
            </a:extLst>
          </p:cNvPr>
          <p:cNvSpPr>
            <a:spLocks noGrp="1"/>
          </p:cNvSpPr>
          <p:nvPr>
            <p:ph type="body" idx="1"/>
          </p:nvPr>
        </p:nvSpPr>
        <p:spPr>
          <a:xfrm>
            <a:off x="271649" y="1016636"/>
            <a:ext cx="4991727" cy="3627175"/>
          </a:xfrm>
        </p:spPr>
        <p:txBody>
          <a:bodyPr>
            <a:noAutofit/>
          </a:bodyPr>
          <a:lstStyle/>
          <a:p>
            <a:pPr marL="285750" indent="-171450">
              <a:buFont typeface="Arial" panose="020B0604020202020204" pitchFamily="34" charset="0"/>
              <a:buChar char="•"/>
            </a:pPr>
            <a:r>
              <a:rPr lang="en-US" sz="2000" dirty="0"/>
              <a:t>LDAP queries</a:t>
            </a:r>
          </a:p>
          <a:p>
            <a:pPr marL="460375" lvl="1" indent="-119063">
              <a:buFont typeface="Arial" panose="020B0604020202020204" pitchFamily="34" charset="0"/>
              <a:buChar char="•"/>
            </a:pPr>
            <a:r>
              <a:rPr lang="en-US" sz="2000" dirty="0"/>
              <a:t>Group - LDAP-BOF (ldap *)</a:t>
            </a:r>
          </a:p>
          <a:p>
            <a:pPr marL="460375" lvl="1" indent="-119063">
              <a:buFont typeface="Arial" panose="020B0604020202020204" pitchFamily="34" charset="0"/>
              <a:buChar char="•"/>
            </a:pPr>
            <a:r>
              <a:rPr lang="en-US" sz="2000" dirty="0"/>
              <a:t>TrustedSec-SA-BOFs (ldapsearch)</a:t>
            </a:r>
          </a:p>
          <a:p>
            <a:pPr marL="341312" lvl="1" indent="0">
              <a:buNone/>
            </a:pPr>
            <a:endParaRPr lang="en-US" sz="2000" dirty="0"/>
          </a:p>
          <a:p>
            <a:pPr marL="285750" indent="-171450">
              <a:buFont typeface="Arial" panose="020B0604020202020204" pitchFamily="34" charset="0"/>
              <a:buChar char="•"/>
            </a:pPr>
            <a:r>
              <a:rPr lang="en-US" sz="2000" dirty="0"/>
              <a:t>AD Certificates (certi *, Certify)</a:t>
            </a:r>
          </a:p>
          <a:p>
            <a:pPr marL="114300" indent="0">
              <a:buNone/>
            </a:pPr>
            <a:endParaRPr lang="en-US" sz="2000" dirty="0"/>
          </a:p>
          <a:p>
            <a:pPr marL="285750" indent="-171450">
              <a:buFont typeface="Arial" panose="020B0604020202020204" pitchFamily="34" charset="0"/>
              <a:buChar char="•"/>
            </a:pPr>
            <a:r>
              <a:rPr lang="en-US" sz="2000" dirty="0"/>
              <a:t>BloodHound/SharpHound</a:t>
            </a:r>
            <a:endParaRPr lang="en-US" sz="1600" dirty="0"/>
          </a:p>
        </p:txBody>
      </p:sp>
      <p:pic>
        <p:nvPicPr>
          <p:cNvPr id="5" name="Picture 4">
            <a:extLst>
              <a:ext uri="{FF2B5EF4-FFF2-40B4-BE49-F238E27FC236}">
                <a16:creationId xmlns:a16="http://schemas.microsoft.com/office/drawing/2014/main" id="{64438A81-4A09-932A-6EE6-6A761F22A480}"/>
              </a:ext>
            </a:extLst>
          </p:cNvPr>
          <p:cNvPicPr>
            <a:picLocks noChangeAspect="1"/>
          </p:cNvPicPr>
          <p:nvPr/>
        </p:nvPicPr>
        <p:blipFill>
          <a:blip r:embed="rId3"/>
          <a:stretch>
            <a:fillRect/>
          </a:stretch>
        </p:blipFill>
        <p:spPr>
          <a:xfrm>
            <a:off x="4951605" y="929268"/>
            <a:ext cx="3284963" cy="3284963"/>
          </a:xfrm>
          <a:prstGeom prst="rect">
            <a:avLst/>
          </a:prstGeom>
        </p:spPr>
      </p:pic>
    </p:spTree>
    <p:extLst>
      <p:ext uri="{BB962C8B-B14F-4D97-AF65-F5344CB8AC3E}">
        <p14:creationId xmlns:p14="http://schemas.microsoft.com/office/powerpoint/2010/main" val="287130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442EB-E43D-EBFE-0E3C-1C558D463F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678711-8757-CED9-5CFD-B75BAC901EC9}"/>
              </a:ext>
            </a:extLst>
          </p:cNvPr>
          <p:cNvSpPr>
            <a:spLocks noGrp="1"/>
          </p:cNvSpPr>
          <p:nvPr>
            <p:ph type="title"/>
          </p:nvPr>
        </p:nvSpPr>
        <p:spPr/>
        <p:txBody>
          <a:bodyPr/>
          <a:lstStyle/>
          <a:p>
            <a:r>
              <a:rPr lang="en-US" dirty="0"/>
              <a:t>LAB 4</a:t>
            </a:r>
          </a:p>
        </p:txBody>
      </p:sp>
    </p:spTree>
    <p:extLst>
      <p:ext uri="{BB962C8B-B14F-4D97-AF65-F5344CB8AC3E}">
        <p14:creationId xmlns:p14="http://schemas.microsoft.com/office/powerpoint/2010/main" val="3206059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CB69D-5A14-3B61-0C05-018178EFBE8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AF8915-5714-03EE-AA74-E2145BCC4C64}"/>
              </a:ext>
            </a:extLst>
          </p:cNvPr>
          <p:cNvSpPr>
            <a:spLocks noGrp="1"/>
          </p:cNvSpPr>
          <p:nvPr>
            <p:ph type="title"/>
          </p:nvPr>
        </p:nvSpPr>
        <p:spPr>
          <a:xfrm>
            <a:off x="0" y="434367"/>
            <a:ext cx="9144000" cy="572700"/>
          </a:xfrm>
        </p:spPr>
        <p:txBody>
          <a:bodyPr>
            <a:noAutofit/>
          </a:bodyPr>
          <a:lstStyle/>
          <a:p>
            <a:pPr algn="ctr"/>
            <a:r>
              <a:rPr lang="en-US" dirty="0"/>
              <a:t>Persistence</a:t>
            </a:r>
          </a:p>
        </p:txBody>
      </p:sp>
      <p:sp>
        <p:nvSpPr>
          <p:cNvPr id="4" name="Text Placeholder 3">
            <a:extLst>
              <a:ext uri="{FF2B5EF4-FFF2-40B4-BE49-F238E27FC236}">
                <a16:creationId xmlns:a16="http://schemas.microsoft.com/office/drawing/2014/main" id="{857F55EC-42CE-CBED-FD91-C5783B8CCF05}"/>
              </a:ext>
            </a:extLst>
          </p:cNvPr>
          <p:cNvSpPr>
            <a:spLocks noGrp="1"/>
          </p:cNvSpPr>
          <p:nvPr>
            <p:ph type="body" idx="1"/>
          </p:nvPr>
        </p:nvSpPr>
        <p:spPr>
          <a:xfrm>
            <a:off x="271649" y="1016636"/>
            <a:ext cx="8574985" cy="3627175"/>
          </a:xfrm>
        </p:spPr>
        <p:txBody>
          <a:bodyPr>
            <a:noAutofit/>
          </a:bodyPr>
          <a:lstStyle/>
          <a:p>
            <a:pPr marL="282575" indent="-171450">
              <a:buFont typeface="Arial" panose="020B0604020202020204" pitchFamily="34" charset="0"/>
              <a:buChar char="•"/>
            </a:pPr>
            <a:r>
              <a:rPr lang="en-US" sz="2000" dirty="0"/>
              <a:t>Persistence ensures access survives reboots, logoffs, and credential rotations</a:t>
            </a:r>
          </a:p>
          <a:p>
            <a:pPr marL="282575" indent="-171450">
              <a:buFont typeface="Arial" panose="020B0604020202020204" pitchFamily="34" charset="0"/>
              <a:buChar char="•"/>
            </a:pPr>
            <a:endParaRPr lang="en-US" sz="1400" dirty="0"/>
          </a:p>
          <a:p>
            <a:pPr marL="282575" indent="-171450">
              <a:buFont typeface="Arial" panose="020B0604020202020204" pitchFamily="34" charset="0"/>
              <a:buChar char="•"/>
            </a:pPr>
            <a:r>
              <a:rPr lang="en-US" sz="2000" dirty="0"/>
              <a:t>Mechanisms fall into two categories: machine-triggered (run at boot regardless of user) and user-triggered (run when a specific user logs in)</a:t>
            </a:r>
          </a:p>
          <a:p>
            <a:pPr marL="282575" indent="-171450">
              <a:buFont typeface="Arial" panose="020B0604020202020204" pitchFamily="34" charset="0"/>
              <a:buChar char="•"/>
            </a:pPr>
            <a:endParaRPr lang="en-US" sz="1400" dirty="0"/>
          </a:p>
          <a:p>
            <a:pPr marL="282575" indent="-171450">
              <a:buFont typeface="Arial" panose="020B0604020202020204" pitchFamily="34" charset="0"/>
              <a:buChar char="•"/>
            </a:pPr>
            <a:r>
              <a:rPr lang="en-US" sz="2000" dirty="0"/>
              <a:t>NTUSER.MAN – Windows loads it as a mandatory hive at logon executing any embedded run keys while discarding changes on logoff</a:t>
            </a:r>
          </a:p>
          <a:p>
            <a:pPr marL="282575" indent="-171450">
              <a:buFont typeface="Arial" panose="020B0604020202020204" pitchFamily="34" charset="0"/>
              <a:buChar char="•"/>
            </a:pPr>
            <a:endParaRPr lang="en-US" sz="1400" dirty="0"/>
          </a:p>
          <a:p>
            <a:pPr marL="282575" indent="-171450">
              <a:buFont typeface="Arial" panose="020B0604020202020204" pitchFamily="34" charset="0"/>
              <a:buChar char="•"/>
            </a:pPr>
            <a:r>
              <a:rPr lang="en-US" sz="2000" dirty="0"/>
              <a:t>Phantom Persistence – abuses a lesser-monitored Windows execution mechanism to survive reboots and logons</a:t>
            </a:r>
          </a:p>
        </p:txBody>
      </p:sp>
    </p:spTree>
    <p:extLst>
      <p:ext uri="{BB962C8B-B14F-4D97-AF65-F5344CB8AC3E}">
        <p14:creationId xmlns:p14="http://schemas.microsoft.com/office/powerpoint/2010/main" val="1617937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8C1BD-E59A-7F0C-8448-CEC14F9AA3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D11795-C3D5-811E-380B-09FC35814D3A}"/>
              </a:ext>
            </a:extLst>
          </p:cNvPr>
          <p:cNvSpPr>
            <a:spLocks noGrp="1"/>
          </p:cNvSpPr>
          <p:nvPr>
            <p:ph type="title"/>
          </p:nvPr>
        </p:nvSpPr>
        <p:spPr/>
        <p:txBody>
          <a:bodyPr/>
          <a:lstStyle/>
          <a:p>
            <a:r>
              <a:rPr lang="en-US" dirty="0"/>
              <a:t>LAB 5</a:t>
            </a:r>
          </a:p>
        </p:txBody>
      </p:sp>
    </p:spTree>
    <p:extLst>
      <p:ext uri="{BB962C8B-B14F-4D97-AF65-F5344CB8AC3E}">
        <p14:creationId xmlns:p14="http://schemas.microsoft.com/office/powerpoint/2010/main" val="20784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E2176-55DF-5BC8-583D-A96C79DE589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AF57C6-4CC5-D72E-DA6E-509603A2041F}"/>
              </a:ext>
            </a:extLst>
          </p:cNvPr>
          <p:cNvSpPr>
            <a:spLocks noGrp="1"/>
          </p:cNvSpPr>
          <p:nvPr>
            <p:ph type="title"/>
          </p:nvPr>
        </p:nvSpPr>
        <p:spPr>
          <a:xfrm>
            <a:off x="0" y="434367"/>
            <a:ext cx="9144000" cy="572700"/>
          </a:xfrm>
        </p:spPr>
        <p:txBody>
          <a:bodyPr>
            <a:noAutofit/>
          </a:bodyPr>
          <a:lstStyle/>
          <a:p>
            <a:pPr algn="ctr"/>
            <a:r>
              <a:rPr lang="en-US" dirty="0"/>
              <a:t>Pivoting</a:t>
            </a:r>
          </a:p>
        </p:txBody>
      </p:sp>
      <p:sp>
        <p:nvSpPr>
          <p:cNvPr id="4" name="Text Placeholder 3">
            <a:extLst>
              <a:ext uri="{FF2B5EF4-FFF2-40B4-BE49-F238E27FC236}">
                <a16:creationId xmlns:a16="http://schemas.microsoft.com/office/drawing/2014/main" id="{70FE0E2D-B596-5084-0DC9-2D1F308E7A20}"/>
              </a:ext>
            </a:extLst>
          </p:cNvPr>
          <p:cNvSpPr>
            <a:spLocks noGrp="1"/>
          </p:cNvSpPr>
          <p:nvPr>
            <p:ph type="body" idx="1"/>
          </p:nvPr>
        </p:nvSpPr>
        <p:spPr>
          <a:xfrm>
            <a:off x="271649" y="1016636"/>
            <a:ext cx="8574985" cy="3627175"/>
          </a:xfrm>
        </p:spPr>
        <p:txBody>
          <a:bodyPr>
            <a:noAutofit/>
          </a:bodyPr>
          <a:lstStyle/>
          <a:p>
            <a:pPr marL="282575" indent="-171450">
              <a:buFont typeface="Arial" panose="020B0604020202020204" pitchFamily="34" charset="0"/>
              <a:buChar char="•"/>
            </a:pPr>
            <a:r>
              <a:rPr lang="en-US" sz="2000" dirty="0"/>
              <a:t>SOCKS Proxy – tunnel attacker tools through a compromised host to reach internal segments</a:t>
            </a:r>
          </a:p>
          <a:p>
            <a:pPr marL="282575" indent="-171450">
              <a:buFont typeface="Arial" panose="020B0604020202020204" pitchFamily="34" charset="0"/>
              <a:buChar char="•"/>
            </a:pPr>
            <a:r>
              <a:rPr lang="en-US" sz="2000" dirty="0"/>
              <a:t>Port Forwarding – relay traffic through a compromised host to reach the C2 from hosts that can't talk to the internet directly</a:t>
            </a:r>
          </a:p>
        </p:txBody>
      </p:sp>
    </p:spTree>
    <p:extLst>
      <p:ext uri="{BB962C8B-B14F-4D97-AF65-F5344CB8AC3E}">
        <p14:creationId xmlns:p14="http://schemas.microsoft.com/office/powerpoint/2010/main" val="265788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7AA92-4643-588B-B065-571BC5D40D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84229E-D38D-8C32-F0A7-D63167AB2061}"/>
              </a:ext>
            </a:extLst>
          </p:cNvPr>
          <p:cNvSpPr>
            <a:spLocks noGrp="1"/>
          </p:cNvSpPr>
          <p:nvPr>
            <p:ph type="title"/>
          </p:nvPr>
        </p:nvSpPr>
        <p:spPr/>
        <p:txBody>
          <a:bodyPr/>
          <a:lstStyle/>
          <a:p>
            <a:r>
              <a:rPr lang="en-US" dirty="0"/>
              <a:t>LAB 6</a:t>
            </a:r>
          </a:p>
        </p:txBody>
      </p:sp>
    </p:spTree>
    <p:extLst>
      <p:ext uri="{BB962C8B-B14F-4D97-AF65-F5344CB8AC3E}">
        <p14:creationId xmlns:p14="http://schemas.microsoft.com/office/powerpoint/2010/main" val="444256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57429-1DCA-58C8-0971-6CA933771F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EFA6D54-D48C-A0A1-EABF-45E849574F8B}"/>
              </a:ext>
            </a:extLst>
          </p:cNvPr>
          <p:cNvSpPr>
            <a:spLocks noGrp="1"/>
          </p:cNvSpPr>
          <p:nvPr>
            <p:ph type="title"/>
          </p:nvPr>
        </p:nvSpPr>
        <p:spPr>
          <a:xfrm>
            <a:off x="0" y="434367"/>
            <a:ext cx="9144000" cy="572700"/>
          </a:xfrm>
        </p:spPr>
        <p:txBody>
          <a:bodyPr>
            <a:noAutofit/>
          </a:bodyPr>
          <a:lstStyle/>
          <a:p>
            <a:pPr algn="ctr"/>
            <a:r>
              <a:rPr lang="en-US" dirty="0"/>
              <a:t>Credential Theft</a:t>
            </a:r>
          </a:p>
        </p:txBody>
      </p:sp>
      <p:sp>
        <p:nvSpPr>
          <p:cNvPr id="4" name="Text Placeholder 3">
            <a:extLst>
              <a:ext uri="{FF2B5EF4-FFF2-40B4-BE49-F238E27FC236}">
                <a16:creationId xmlns:a16="http://schemas.microsoft.com/office/drawing/2014/main" id="{072384DC-9872-5AF8-C441-F9EC6D3E758C}"/>
              </a:ext>
            </a:extLst>
          </p:cNvPr>
          <p:cNvSpPr>
            <a:spLocks noGrp="1"/>
          </p:cNvSpPr>
          <p:nvPr>
            <p:ph type="body" idx="1"/>
          </p:nvPr>
        </p:nvSpPr>
        <p:spPr>
          <a:xfrm>
            <a:off x="271649" y="1016636"/>
            <a:ext cx="8574985" cy="3627175"/>
          </a:xfrm>
        </p:spPr>
        <p:txBody>
          <a:bodyPr>
            <a:noAutofit/>
          </a:bodyPr>
          <a:lstStyle/>
          <a:p>
            <a:pPr marL="282575" indent="-171450">
              <a:buFont typeface="Arial" panose="020B0604020202020204" pitchFamily="34" charset="0"/>
              <a:buChar char="•"/>
            </a:pPr>
            <a:r>
              <a:rPr lang="en-US" sz="1600" dirty="0"/>
              <a:t>LSASS (Local Security Authority Subsystem Service) is the primary target for credential theft on Windows, it holds plaintext passwords, NTLM hashes, and Kerberos tickets in memory for all authenticated sessions on the host</a:t>
            </a:r>
          </a:p>
          <a:p>
            <a:pPr marL="282575" indent="-171450">
              <a:buFont typeface="Arial" panose="020B0604020202020204" pitchFamily="34" charset="0"/>
              <a:buChar char="•"/>
            </a:pPr>
            <a:r>
              <a:rPr lang="en-US" sz="1600" dirty="0"/>
              <a:t>Dumping LSASS requires SYSTEM-level access</a:t>
            </a:r>
          </a:p>
          <a:p>
            <a:pPr marL="282575" indent="-171450">
              <a:buFont typeface="Arial" panose="020B0604020202020204" pitchFamily="34" charset="0"/>
              <a:buChar char="•"/>
            </a:pPr>
            <a:r>
              <a:rPr lang="en-US" sz="1600" dirty="0"/>
              <a:t>On Windows 11, LSASS runs as a Protected Process Light (PPL) by default, which prevents even SYSTEM-level processes from opening a handle to it, standard dumping techniques fail without first neutralizing PPL</a:t>
            </a:r>
          </a:p>
          <a:p>
            <a:pPr marL="282575" indent="-171450">
              <a:buFont typeface="Arial" panose="020B0604020202020204" pitchFamily="34" charset="0"/>
              <a:buChar char="•"/>
            </a:pPr>
            <a:r>
              <a:rPr lang="en-US" sz="1600" dirty="0"/>
              <a:t>BYOVD (Bring Your Own Vulnerable Driver) is the common PPL bypass: a legitimately signed but vulnerable kernel driver is loaded to gain kernel-level access, which can then strip PPL protection from LSASS before dumping proceeds</a:t>
            </a:r>
          </a:p>
        </p:txBody>
      </p:sp>
    </p:spTree>
    <p:extLst>
      <p:ext uri="{BB962C8B-B14F-4D97-AF65-F5344CB8AC3E}">
        <p14:creationId xmlns:p14="http://schemas.microsoft.com/office/powerpoint/2010/main" val="2895773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3609D-A582-7E3E-8159-4974BA864A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4C3FFC-4AB2-F4F3-3229-5F58757C047E}"/>
              </a:ext>
            </a:extLst>
          </p:cNvPr>
          <p:cNvSpPr>
            <a:spLocks noGrp="1"/>
          </p:cNvSpPr>
          <p:nvPr>
            <p:ph type="title"/>
          </p:nvPr>
        </p:nvSpPr>
        <p:spPr>
          <a:xfrm>
            <a:off x="0" y="434367"/>
            <a:ext cx="9144000" cy="572700"/>
          </a:xfrm>
        </p:spPr>
        <p:txBody>
          <a:bodyPr>
            <a:noAutofit/>
          </a:bodyPr>
          <a:lstStyle/>
          <a:p>
            <a:pPr algn="ctr"/>
            <a:r>
              <a:rPr lang="en-US" dirty="0"/>
              <a:t>Impersonation</a:t>
            </a:r>
          </a:p>
        </p:txBody>
      </p:sp>
      <p:sp>
        <p:nvSpPr>
          <p:cNvPr id="4" name="Text Placeholder 3">
            <a:extLst>
              <a:ext uri="{FF2B5EF4-FFF2-40B4-BE49-F238E27FC236}">
                <a16:creationId xmlns:a16="http://schemas.microsoft.com/office/drawing/2014/main" id="{A06B359A-86AB-37A2-D51F-D0BA4A41276E}"/>
              </a:ext>
            </a:extLst>
          </p:cNvPr>
          <p:cNvSpPr>
            <a:spLocks noGrp="1"/>
          </p:cNvSpPr>
          <p:nvPr>
            <p:ph type="body" idx="1"/>
          </p:nvPr>
        </p:nvSpPr>
        <p:spPr>
          <a:xfrm>
            <a:off x="271649" y="1016636"/>
            <a:ext cx="8574985" cy="3627175"/>
          </a:xfrm>
        </p:spPr>
        <p:txBody>
          <a:bodyPr>
            <a:noAutofit/>
          </a:bodyPr>
          <a:lstStyle/>
          <a:p>
            <a:pPr marL="282575" indent="-171450">
              <a:buFont typeface="Arial" panose="020B0604020202020204" pitchFamily="34" charset="0"/>
              <a:buChar char="•"/>
            </a:pPr>
            <a:r>
              <a:rPr lang="en-US" sz="2000" dirty="0"/>
              <a:t>Token impersonation allows an operator to act as another user by creating a token from known credentials </a:t>
            </a:r>
          </a:p>
          <a:p>
            <a:pPr marL="282575" indent="-171450">
              <a:buFont typeface="Arial" panose="020B0604020202020204" pitchFamily="34" charset="0"/>
              <a:buChar char="•"/>
            </a:pPr>
            <a:endParaRPr lang="en-US" sz="1400" dirty="0"/>
          </a:p>
          <a:p>
            <a:pPr marL="282575" indent="-171450">
              <a:buFont typeface="Arial" panose="020B0604020202020204" pitchFamily="34" charset="0"/>
              <a:buChar char="•"/>
            </a:pPr>
            <a:r>
              <a:rPr lang="en-US" sz="2000" dirty="0"/>
              <a:t>Token theft allows an operator to act as another user by stealing a token from an existing process running under that user's context</a:t>
            </a:r>
          </a:p>
          <a:p>
            <a:pPr marL="282575" indent="-171450">
              <a:buFont typeface="Arial" panose="020B0604020202020204" pitchFamily="34" charset="0"/>
              <a:buChar char="•"/>
            </a:pPr>
            <a:endParaRPr lang="en-US" sz="1400" dirty="0"/>
          </a:p>
          <a:p>
            <a:pPr marL="282575" indent="-171450">
              <a:buFont typeface="Arial" panose="020B0604020202020204" pitchFamily="34" charset="0"/>
              <a:buChar char="•"/>
            </a:pPr>
            <a:r>
              <a:rPr lang="en-US" sz="2000" dirty="0"/>
              <a:t>Credential prompting targets the human rather than the system, using a fake Windows security dialog rendered on the victim's desktop captures credentials directly from the user, bypassing all technical controls</a:t>
            </a:r>
          </a:p>
        </p:txBody>
      </p:sp>
    </p:spTree>
    <p:extLst>
      <p:ext uri="{BB962C8B-B14F-4D97-AF65-F5344CB8AC3E}">
        <p14:creationId xmlns:p14="http://schemas.microsoft.com/office/powerpoint/2010/main" val="2514786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03826-EE93-BAAB-EF89-42DEAE4E60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F366D20-CB19-04E5-6BE4-253697DDED87}"/>
              </a:ext>
            </a:extLst>
          </p:cNvPr>
          <p:cNvSpPr>
            <a:spLocks noGrp="1"/>
          </p:cNvSpPr>
          <p:nvPr>
            <p:ph type="title"/>
          </p:nvPr>
        </p:nvSpPr>
        <p:spPr/>
        <p:txBody>
          <a:bodyPr/>
          <a:lstStyle/>
          <a:p>
            <a:r>
              <a:rPr lang="en-US" dirty="0"/>
              <a:t>LAB 7</a:t>
            </a:r>
          </a:p>
        </p:txBody>
      </p:sp>
    </p:spTree>
    <p:extLst>
      <p:ext uri="{BB962C8B-B14F-4D97-AF65-F5344CB8AC3E}">
        <p14:creationId xmlns:p14="http://schemas.microsoft.com/office/powerpoint/2010/main" val="2881968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5EEE6-FE18-A3E8-15A9-255F27C1E4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E5D282-A766-1354-D59A-DB2443A045F0}"/>
              </a:ext>
            </a:extLst>
          </p:cNvPr>
          <p:cNvSpPr>
            <a:spLocks noGrp="1"/>
          </p:cNvSpPr>
          <p:nvPr>
            <p:ph type="title"/>
          </p:nvPr>
        </p:nvSpPr>
        <p:spPr>
          <a:xfrm>
            <a:off x="0" y="434367"/>
            <a:ext cx="9144000" cy="572700"/>
          </a:xfrm>
        </p:spPr>
        <p:txBody>
          <a:bodyPr>
            <a:noAutofit/>
          </a:bodyPr>
          <a:lstStyle/>
          <a:p>
            <a:pPr algn="ctr"/>
            <a:r>
              <a:rPr lang="en-US" dirty="0"/>
              <a:t>Kerberos Tickets</a:t>
            </a:r>
          </a:p>
        </p:txBody>
      </p:sp>
      <p:sp>
        <p:nvSpPr>
          <p:cNvPr id="4" name="Text Placeholder 3">
            <a:extLst>
              <a:ext uri="{FF2B5EF4-FFF2-40B4-BE49-F238E27FC236}">
                <a16:creationId xmlns:a16="http://schemas.microsoft.com/office/drawing/2014/main" id="{C61AE5C7-C22F-A9F4-ECE0-49E674FE1D84}"/>
              </a:ext>
            </a:extLst>
          </p:cNvPr>
          <p:cNvSpPr>
            <a:spLocks noGrp="1"/>
          </p:cNvSpPr>
          <p:nvPr>
            <p:ph type="body" idx="1"/>
          </p:nvPr>
        </p:nvSpPr>
        <p:spPr>
          <a:xfrm>
            <a:off x="271649" y="1016636"/>
            <a:ext cx="8574985" cy="3627175"/>
          </a:xfrm>
        </p:spPr>
        <p:txBody>
          <a:bodyPr>
            <a:noAutofit/>
          </a:bodyPr>
          <a:lstStyle/>
          <a:p>
            <a:pPr marL="282575" indent="-171450">
              <a:buFont typeface="Arial" panose="020B0604020202020204" pitchFamily="34" charset="0"/>
              <a:buChar char="•"/>
            </a:pPr>
            <a:r>
              <a:rPr lang="en-US" sz="2000" dirty="0"/>
              <a:t>Kerberos is an authentication protocol based on tickets. It basically works like this (simplified process):</a:t>
            </a:r>
          </a:p>
          <a:p>
            <a:pPr marL="282575" indent="-171450">
              <a:buFont typeface="Arial" panose="020B0604020202020204" pitchFamily="34" charset="0"/>
              <a:buChar char="•"/>
            </a:pPr>
            <a:r>
              <a:rPr lang="en-US" sz="2000" dirty="0"/>
              <a:t>Client asks the KDC for a TGT (Ticket Granting Ticket). One of the requesting user's keys is used for pre-authentication. The TGT is provided by the Authentication Service (AS). The client request is called AS-REQ, the answer is called AS-REP.</a:t>
            </a:r>
          </a:p>
          <a:p>
            <a:pPr marL="282575" indent="-171450">
              <a:buFont typeface="Arial" panose="020B0604020202020204" pitchFamily="34" charset="0"/>
              <a:buChar char="•"/>
            </a:pPr>
            <a:r>
              <a:rPr lang="en-US" sz="2000" dirty="0"/>
              <a:t>Client uses the TGT to ask the KDC for a ST (Service Ticket). That ticket is provided by the Ticket Granting Service (TGS). The client request is called TGS-REQ, the answer is called TGS-REP.</a:t>
            </a:r>
          </a:p>
        </p:txBody>
      </p:sp>
      <p:sp>
        <p:nvSpPr>
          <p:cNvPr id="2" name="TextBox 1">
            <a:extLst>
              <a:ext uri="{FF2B5EF4-FFF2-40B4-BE49-F238E27FC236}">
                <a16:creationId xmlns:a16="http://schemas.microsoft.com/office/drawing/2014/main" id="{9EF5D5FC-1949-6872-03C3-E99F7D51117D}"/>
              </a:ext>
            </a:extLst>
          </p:cNvPr>
          <p:cNvSpPr txBox="1"/>
          <p:nvPr/>
        </p:nvSpPr>
        <p:spPr>
          <a:xfrm>
            <a:off x="0" y="4482488"/>
            <a:ext cx="9144000" cy="307777"/>
          </a:xfrm>
          <a:prstGeom prst="rect">
            <a:avLst/>
          </a:prstGeom>
          <a:noFill/>
        </p:spPr>
        <p:txBody>
          <a:bodyPr wrap="square" rtlCol="0">
            <a:spAutoFit/>
          </a:bodyPr>
          <a:lstStyle/>
          <a:p>
            <a:r>
              <a:rPr lang="en-US" dirty="0"/>
              <a:t>Source: </a:t>
            </a:r>
            <a:r>
              <a:rPr lang="en-US" dirty="0">
                <a:solidFill>
                  <a:srgbClr val="0070C0"/>
                </a:solidFill>
                <a:hlinkClick r:id="rId3">
                  <a:extLst>
                    <a:ext uri="{A12FA001-AC4F-418D-AE19-62706E023703}">
                      <ahyp:hlinkClr xmlns:ahyp="http://schemas.microsoft.com/office/drawing/2018/hyperlinkcolor" val="tx"/>
                    </a:ext>
                  </a:extLst>
                </a:hlinkClick>
              </a:rPr>
              <a:t>The Hacker Recipes</a:t>
            </a:r>
            <a:endParaRPr lang="en-US" dirty="0">
              <a:solidFill>
                <a:srgbClr val="0070C0"/>
              </a:solidFill>
            </a:endParaRPr>
          </a:p>
        </p:txBody>
      </p:sp>
    </p:spTree>
    <p:extLst>
      <p:ext uri="{BB962C8B-B14F-4D97-AF65-F5344CB8AC3E}">
        <p14:creationId xmlns:p14="http://schemas.microsoft.com/office/powerpoint/2010/main" val="1234256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9576B-9415-EC88-286A-F3B457E3E0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D64560-535C-E15D-40DF-9021C081F8AE}"/>
              </a:ext>
            </a:extLst>
          </p:cNvPr>
          <p:cNvSpPr>
            <a:spLocks noGrp="1"/>
          </p:cNvSpPr>
          <p:nvPr>
            <p:ph type="title"/>
          </p:nvPr>
        </p:nvSpPr>
        <p:spPr>
          <a:xfrm>
            <a:off x="0" y="434367"/>
            <a:ext cx="9144000" cy="572700"/>
          </a:xfrm>
        </p:spPr>
        <p:txBody>
          <a:bodyPr>
            <a:noAutofit/>
          </a:bodyPr>
          <a:lstStyle/>
          <a:p>
            <a:pPr algn="ctr"/>
            <a:r>
              <a:rPr lang="en-US" dirty="0"/>
              <a:t>Kerberos Tickets Continued</a:t>
            </a:r>
          </a:p>
        </p:txBody>
      </p:sp>
      <p:sp>
        <p:nvSpPr>
          <p:cNvPr id="4" name="Text Placeholder 3">
            <a:extLst>
              <a:ext uri="{FF2B5EF4-FFF2-40B4-BE49-F238E27FC236}">
                <a16:creationId xmlns:a16="http://schemas.microsoft.com/office/drawing/2014/main" id="{45598499-33E5-A315-A34F-0C5DE5800AEC}"/>
              </a:ext>
            </a:extLst>
          </p:cNvPr>
          <p:cNvSpPr>
            <a:spLocks noGrp="1"/>
          </p:cNvSpPr>
          <p:nvPr>
            <p:ph type="body" idx="1"/>
          </p:nvPr>
        </p:nvSpPr>
        <p:spPr>
          <a:xfrm>
            <a:off x="271649" y="1016636"/>
            <a:ext cx="8574985" cy="3627175"/>
          </a:xfrm>
        </p:spPr>
        <p:txBody>
          <a:bodyPr>
            <a:noAutofit/>
          </a:bodyPr>
          <a:lstStyle/>
          <a:p>
            <a:pPr marL="282575" indent="-171450">
              <a:buFont typeface="Arial" panose="020B0604020202020204" pitchFamily="34" charset="0"/>
              <a:buChar char="•"/>
            </a:pPr>
            <a:r>
              <a:rPr lang="en-US" sz="2000" dirty="0"/>
              <a:t>Client uses the ST (Service Ticket) to access a service. The client request to the service is called AP-REQ, the service answer is called AP-REP.</a:t>
            </a:r>
          </a:p>
          <a:p>
            <a:pPr marL="282575" indent="-171450">
              <a:buFont typeface="Arial" panose="020B0604020202020204" pitchFamily="34" charset="0"/>
              <a:buChar char="•"/>
            </a:pPr>
            <a:r>
              <a:rPr lang="en-US" sz="2000" dirty="0"/>
              <a:t>Both tickets (TGT and ST) usually contain an encrypted PAC (Privileged Attribute Certificate), a set of information that the target service will read to decide if the authentication user can access the service or not (user ID, group memberships and so on).</a:t>
            </a:r>
          </a:p>
        </p:txBody>
      </p:sp>
      <p:sp>
        <p:nvSpPr>
          <p:cNvPr id="2" name="TextBox 1">
            <a:extLst>
              <a:ext uri="{FF2B5EF4-FFF2-40B4-BE49-F238E27FC236}">
                <a16:creationId xmlns:a16="http://schemas.microsoft.com/office/drawing/2014/main" id="{27840C6C-7D8F-3378-0567-CAC4CAF851EF}"/>
              </a:ext>
            </a:extLst>
          </p:cNvPr>
          <p:cNvSpPr txBox="1"/>
          <p:nvPr/>
        </p:nvSpPr>
        <p:spPr>
          <a:xfrm>
            <a:off x="0" y="4482488"/>
            <a:ext cx="9144000" cy="307777"/>
          </a:xfrm>
          <a:prstGeom prst="rect">
            <a:avLst/>
          </a:prstGeom>
          <a:noFill/>
        </p:spPr>
        <p:txBody>
          <a:bodyPr wrap="square" rtlCol="0">
            <a:spAutoFit/>
          </a:bodyPr>
          <a:lstStyle/>
          <a:p>
            <a:r>
              <a:rPr lang="en-US" dirty="0"/>
              <a:t>Source: </a:t>
            </a:r>
            <a:r>
              <a:rPr lang="en-US" dirty="0">
                <a:solidFill>
                  <a:srgbClr val="0070C0"/>
                </a:solidFill>
                <a:hlinkClick r:id="rId3">
                  <a:extLst>
                    <a:ext uri="{A12FA001-AC4F-418D-AE19-62706E023703}">
                      <ahyp:hlinkClr xmlns:ahyp="http://schemas.microsoft.com/office/drawing/2018/hyperlinkcolor" val="tx"/>
                    </a:ext>
                  </a:extLst>
                </a:hlinkClick>
              </a:rPr>
              <a:t>The Hacker Recipes</a:t>
            </a:r>
            <a:endParaRPr lang="en-US" dirty="0">
              <a:solidFill>
                <a:srgbClr val="0070C0"/>
              </a:solidFill>
            </a:endParaRPr>
          </a:p>
        </p:txBody>
      </p:sp>
    </p:spTree>
    <p:extLst>
      <p:ext uri="{BB962C8B-B14F-4D97-AF65-F5344CB8AC3E}">
        <p14:creationId xmlns:p14="http://schemas.microsoft.com/office/powerpoint/2010/main" val="1700473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D321-550F-2267-E61F-D440071CCA0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FCB3AC-1986-05DB-79F1-30AF1DD157F5}"/>
              </a:ext>
            </a:extLst>
          </p:cNvPr>
          <p:cNvSpPr>
            <a:spLocks noGrp="1"/>
          </p:cNvSpPr>
          <p:nvPr>
            <p:ph type="title"/>
          </p:nvPr>
        </p:nvSpPr>
        <p:spPr>
          <a:xfrm>
            <a:off x="0" y="434367"/>
            <a:ext cx="9144000" cy="572700"/>
          </a:xfrm>
        </p:spPr>
        <p:txBody>
          <a:bodyPr>
            <a:noAutofit/>
          </a:bodyPr>
          <a:lstStyle/>
          <a:p>
            <a:pPr algn="ctr"/>
            <a:r>
              <a:rPr lang="en-US" dirty="0"/>
              <a:t>Pass-The-Ticket</a:t>
            </a:r>
          </a:p>
        </p:txBody>
      </p:sp>
      <p:sp>
        <p:nvSpPr>
          <p:cNvPr id="4" name="Text Placeholder 3">
            <a:extLst>
              <a:ext uri="{FF2B5EF4-FFF2-40B4-BE49-F238E27FC236}">
                <a16:creationId xmlns:a16="http://schemas.microsoft.com/office/drawing/2014/main" id="{3F01E930-4723-D810-9A91-D25E9D8398F7}"/>
              </a:ext>
            </a:extLst>
          </p:cNvPr>
          <p:cNvSpPr>
            <a:spLocks noGrp="1"/>
          </p:cNvSpPr>
          <p:nvPr>
            <p:ph type="body" idx="1"/>
          </p:nvPr>
        </p:nvSpPr>
        <p:spPr>
          <a:xfrm>
            <a:off x="271649" y="1016636"/>
            <a:ext cx="8574985" cy="3627175"/>
          </a:xfrm>
        </p:spPr>
        <p:txBody>
          <a:bodyPr>
            <a:noAutofit/>
          </a:bodyPr>
          <a:lstStyle/>
          <a:p>
            <a:pPr marL="282575" indent="-171450">
              <a:buFont typeface="Arial" panose="020B0604020202020204" pitchFamily="34" charset="0"/>
              <a:buChar char="•"/>
            </a:pPr>
            <a:r>
              <a:rPr lang="en-US" sz="2000" dirty="0"/>
              <a:t>Pass-the-Ticket (PtT) extracts a valid Kerberos ticket from one session and injects it into another, allowing an operator to authenticate to services as the ticket's owner without knowing their password or hash</a:t>
            </a:r>
          </a:p>
          <a:p>
            <a:pPr marL="282575" indent="-171450">
              <a:buFont typeface="Arial" panose="020B0604020202020204" pitchFamily="34" charset="0"/>
              <a:buChar char="•"/>
            </a:pPr>
            <a:r>
              <a:rPr lang="en-US" sz="2000" dirty="0"/>
              <a:t>A stolen TGT can be used to request service tickets for any resource the user has access to, while a stolen TGS only provides access to the single service it was issued for</a:t>
            </a:r>
          </a:p>
        </p:txBody>
      </p:sp>
      <p:sp>
        <p:nvSpPr>
          <p:cNvPr id="2" name="TextBox 1">
            <a:extLst>
              <a:ext uri="{FF2B5EF4-FFF2-40B4-BE49-F238E27FC236}">
                <a16:creationId xmlns:a16="http://schemas.microsoft.com/office/drawing/2014/main" id="{DC7D5222-853C-5566-FD16-48218D2DC7C1}"/>
              </a:ext>
            </a:extLst>
          </p:cNvPr>
          <p:cNvSpPr txBox="1"/>
          <p:nvPr/>
        </p:nvSpPr>
        <p:spPr>
          <a:xfrm>
            <a:off x="0" y="4482488"/>
            <a:ext cx="9144000" cy="307777"/>
          </a:xfrm>
          <a:prstGeom prst="rect">
            <a:avLst/>
          </a:prstGeom>
          <a:noFill/>
        </p:spPr>
        <p:txBody>
          <a:bodyPr wrap="square" rtlCol="0">
            <a:spAutoFit/>
          </a:bodyPr>
          <a:lstStyle/>
          <a:p>
            <a:r>
              <a:rPr lang="en-US" dirty="0"/>
              <a:t>Source: </a:t>
            </a:r>
            <a:r>
              <a:rPr lang="en-US" dirty="0">
                <a:solidFill>
                  <a:srgbClr val="0070C0"/>
                </a:solidFill>
                <a:hlinkClick r:id="rId3">
                  <a:extLst>
                    <a:ext uri="{A12FA001-AC4F-418D-AE19-62706E023703}">
                      <ahyp:hlinkClr xmlns:ahyp="http://schemas.microsoft.com/office/drawing/2018/hyperlinkcolor" val="tx"/>
                    </a:ext>
                  </a:extLst>
                </a:hlinkClick>
              </a:rPr>
              <a:t>The Hacker Recipes</a:t>
            </a:r>
            <a:endParaRPr lang="en-US" dirty="0">
              <a:solidFill>
                <a:srgbClr val="0070C0"/>
              </a:solidFill>
            </a:endParaRPr>
          </a:p>
        </p:txBody>
      </p:sp>
    </p:spTree>
    <p:extLst>
      <p:ext uri="{BB962C8B-B14F-4D97-AF65-F5344CB8AC3E}">
        <p14:creationId xmlns:p14="http://schemas.microsoft.com/office/powerpoint/2010/main" val="2723065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82A25-77AD-5391-67E2-D2EB59D3C88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0858C1-5258-21C8-59B6-3D9A50F36BA2}"/>
              </a:ext>
            </a:extLst>
          </p:cNvPr>
          <p:cNvSpPr>
            <a:spLocks noGrp="1"/>
          </p:cNvSpPr>
          <p:nvPr>
            <p:ph type="title"/>
          </p:nvPr>
        </p:nvSpPr>
        <p:spPr/>
        <p:txBody>
          <a:bodyPr/>
          <a:lstStyle/>
          <a:p>
            <a:r>
              <a:rPr lang="en-US" dirty="0"/>
              <a:t>LAB 8</a:t>
            </a:r>
          </a:p>
        </p:txBody>
      </p:sp>
    </p:spTree>
    <p:extLst>
      <p:ext uri="{BB962C8B-B14F-4D97-AF65-F5344CB8AC3E}">
        <p14:creationId xmlns:p14="http://schemas.microsoft.com/office/powerpoint/2010/main" val="1946885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4257-75FD-6F72-61CA-BBE4437EE5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19B4FE-63FC-1B4C-FB45-30CB98F6D76F}"/>
              </a:ext>
            </a:extLst>
          </p:cNvPr>
          <p:cNvSpPr>
            <a:spLocks noGrp="1"/>
          </p:cNvSpPr>
          <p:nvPr>
            <p:ph type="title"/>
          </p:nvPr>
        </p:nvSpPr>
        <p:spPr/>
        <p:txBody>
          <a:bodyPr/>
          <a:lstStyle/>
          <a:p>
            <a:r>
              <a:rPr lang="en-US" dirty="0"/>
              <a:t>LAB 9</a:t>
            </a:r>
          </a:p>
        </p:txBody>
      </p:sp>
    </p:spTree>
    <p:extLst>
      <p:ext uri="{BB962C8B-B14F-4D97-AF65-F5344CB8AC3E}">
        <p14:creationId xmlns:p14="http://schemas.microsoft.com/office/powerpoint/2010/main" val="3476354005"/>
      </p:ext>
    </p:extLst>
  </p:cSld>
  <p:clrMapOvr>
    <a:masterClrMapping/>
  </p:clrMapOvr>
</p:sld>
</file>

<file path=ppt/theme/theme1.xml><?xml version="1.0" encoding="utf-8"?>
<a:theme xmlns:a="http://schemas.openxmlformats.org/drawingml/2006/main" name="VS Standard Slide Dec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1532</TotalTime>
  <Words>1686</Words>
  <Application>Microsoft Office PowerPoint</Application>
  <PresentationFormat>On-screen Show (16:9)</PresentationFormat>
  <Paragraphs>164</Paragraphs>
  <Slides>30</Slides>
  <Notes>25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Arial</vt:lpstr>
      <vt:lpstr>VS Standard Slide Deck</vt:lpstr>
      <vt:lpstr>Adaptix C2 Operations</vt:lpstr>
      <vt:lpstr>Introductions</vt:lpstr>
      <vt:lpstr>Objectives</vt:lpstr>
      <vt:lpstr>PowerPoint Presentation</vt:lpstr>
      <vt:lpstr>Adaptix C2</vt:lpstr>
      <vt:lpstr>Listeners</vt:lpstr>
      <vt:lpstr>Crystal Palace/The Garden</vt:lpstr>
      <vt:lpstr>DEMO</vt:lpstr>
      <vt:lpstr>LAB 1</vt:lpstr>
      <vt:lpstr>Agents</vt:lpstr>
      <vt:lpstr>AV/EDR Evasion Tools</vt:lpstr>
      <vt:lpstr>DEMO</vt:lpstr>
      <vt:lpstr>LAB 2</vt:lpstr>
      <vt:lpstr>LAB 3</vt:lpstr>
      <vt:lpstr>Host/Domain Enumeration</vt:lpstr>
      <vt:lpstr>Host Enumeration</vt:lpstr>
      <vt:lpstr>Domain Enumeration</vt:lpstr>
      <vt:lpstr>LAB 4</vt:lpstr>
      <vt:lpstr>Persistence</vt:lpstr>
      <vt:lpstr>LAB 5</vt:lpstr>
      <vt:lpstr>Pivoting</vt:lpstr>
      <vt:lpstr>LAB 6</vt:lpstr>
      <vt:lpstr>Credential Theft</vt:lpstr>
      <vt:lpstr>Impersonation</vt:lpstr>
      <vt:lpstr>LAB 7</vt:lpstr>
      <vt:lpstr>Kerberos Tickets</vt:lpstr>
      <vt:lpstr>Kerberos Tickets Continued</vt:lpstr>
      <vt:lpstr>Pass-The-Ticket</vt:lpstr>
      <vt:lpstr>LAB 8</vt:lpstr>
      <vt:lpstr>LAB 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user0</dc:creator>
  <cp:lastModifiedBy>Jon Van de Bogert</cp:lastModifiedBy>
  <cp:revision>4</cp:revision>
  <dcterms:modified xsi:type="dcterms:W3CDTF">2026-07-17T13:34:53Z</dcterms:modified>
</cp:coreProperties>
</file>